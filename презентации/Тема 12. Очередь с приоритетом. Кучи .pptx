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Proxima Nova"/>
      <p:regular r:id="rId31"/>
      <p:bold r:id="rId32"/>
      <p:italic r:id="rId33"/>
      <p:boldItalic r:id="rId34"/>
    </p:embeddedFont>
    <p:embeddedFont>
      <p:font typeface="PT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roximaNova-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bold.fntdata"/><Relationship Id="rId13" Type="http://schemas.openxmlformats.org/officeDocument/2006/relationships/slide" Target="slides/slide8.xml"/><Relationship Id="rId35" Type="http://schemas.openxmlformats.org/officeDocument/2006/relationships/font" Target="fonts/PTSans-regular.fntdata"/><Relationship Id="rId12" Type="http://schemas.openxmlformats.org/officeDocument/2006/relationships/slide" Target="slides/slide7.xml"/><Relationship Id="rId34" Type="http://schemas.openxmlformats.org/officeDocument/2006/relationships/font" Target="fonts/ProximaNova-boldItalic.fntdata"/><Relationship Id="rId15" Type="http://schemas.openxmlformats.org/officeDocument/2006/relationships/slide" Target="slides/slide10.xml"/><Relationship Id="rId37" Type="http://schemas.openxmlformats.org/officeDocument/2006/relationships/font" Target="fonts/PTSans-italic.fntdata"/><Relationship Id="rId14" Type="http://schemas.openxmlformats.org/officeDocument/2006/relationships/slide" Target="slides/slide9.xml"/><Relationship Id="rId36" Type="http://schemas.openxmlformats.org/officeDocument/2006/relationships/font" Target="fonts/PT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PT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caf89ee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6caf89ee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caf89eea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6caf89eea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caf89eea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6caf89eea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caf89eea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6caf89eea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caf89eea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6caf89eea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caf89eea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6caf89eea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caf89eea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6caf89eea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cb045cf8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6cb045cf8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caf89eea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6caf89eea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cb045cf8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6cb045cf8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cb045cf8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6cb045cf8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cb045cf8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6cb045cf8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cb045cf8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6cb045cf8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cb045cf8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6cb045cf8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cb045cf8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6cb045cf8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cb045cf8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6cb045cf8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4pPr>
            <a:lvl5pPr indent="-3619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Лэти тема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54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3600"/>
              <a:buFont typeface="PT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идео + заголовок и объект">
  <p:cSld name="Видео + 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251952" y="2099245"/>
            <a:ext cx="249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НЕ ИСПОЛЬЗОВАТЬ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923927" y="4788678"/>
            <a:ext cx="3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2700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923927" y="255824"/>
            <a:ext cx="4779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923927" y="897731"/>
            <a:ext cx="47796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440531" y="897564"/>
            <a:ext cx="4023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680012" y="897564"/>
            <a:ext cx="40170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заголовка и объекта">
  <p:cSld name="Два заголовка и объекта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40531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4053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3" type="body"/>
          </p:nvPr>
        </p:nvSpPr>
        <p:spPr>
          <a:xfrm>
            <a:off x="4680012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10"/>
          <p:cNvSpPr txBox="1"/>
          <p:nvPr>
            <p:ph idx="4" type="body"/>
          </p:nvPr>
        </p:nvSpPr>
        <p:spPr>
          <a:xfrm>
            <a:off x="468001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5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>
            <p:ph idx="2" type="pic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Font typeface="P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jp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2400"/>
              <a:buFont typeface="PT Sans"/>
              <a:buNone/>
              <a:defRPr b="1" i="0" sz="24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55825"/>
            <a:ext cx="393602" cy="39360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743">
          <p15:clr>
            <a:srgbClr val="F26B43"/>
          </p15:clr>
        </p15:guide>
        <p15:guide id="2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lg@moevm.inf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mailto:alg@moevm.info" TargetMode="External"/><Relationship Id="rId4" Type="http://schemas.openxmlformats.org/officeDocument/2006/relationships/hyperlink" Target="mailto:dmitry.ivanov@moevm.info" TargetMode="External"/><Relationship Id="rId5" Type="http://schemas.openxmlformats.org/officeDocument/2006/relationships/hyperlink" Target="mailto:ivan.shalaginov@moevm.inf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ru"/>
              <a:t>Очередь с приоритетом. Кучи </a:t>
            </a:r>
            <a:endParaRPr/>
          </a:p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65075" y="3097350"/>
            <a:ext cx="883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Для вопросов по курсу: 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ru" sz="2200"/>
              <a:t>Почта дисциплины - </a:t>
            </a:r>
            <a:r>
              <a:rPr lang="ru" sz="2200" u="sng">
                <a:solidFill>
                  <a:schemeClr val="hlink"/>
                </a:solidFill>
                <a:hlinkClick r:id="rId3"/>
              </a:rPr>
              <a:t>alg@moevm.info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Префикс в теме письма [ALG_43XX]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84675" y="94400"/>
            <a:ext cx="85206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ru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СПбГЭТУ “ЛЭТИ”, ФКТИ, МОЭВМ</a:t>
            </a:r>
            <a:endParaRPr b="0" i="1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Двоичная макс-куча (Binary heap)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778650"/>
            <a:ext cx="85206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Двоичная макс-куча - это двоичное дерево, в котором значение в каждой вершине не меньше значения в ее детях.</a:t>
            </a:r>
            <a:br>
              <a:rPr lang="ru" sz="1900">
                <a:solidFill>
                  <a:srgbClr val="000000"/>
                </a:solidFill>
              </a:rPr>
            </a:br>
            <a:r>
              <a:rPr b="1" lang="ru" sz="1900">
                <a:solidFill>
                  <a:srgbClr val="000000"/>
                </a:solidFill>
              </a:rPr>
              <a:t>Примечание</a:t>
            </a:r>
            <a:r>
              <a:rPr lang="ru" sz="1900">
                <a:solidFill>
                  <a:srgbClr val="000000"/>
                </a:solidFill>
              </a:rPr>
              <a:t>: Дерево должно быть полностью заполнено на всех уровнях, кроме последнего, который заполняется слева направо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324" y="2564675"/>
            <a:ext cx="2202574" cy="198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3773" y="2571750"/>
            <a:ext cx="2109643" cy="196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1303" y="2571750"/>
            <a:ext cx="2574715" cy="196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Куча. Операции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Найти максимальное (или минимальное, в зависимости от реализации) значение: это корень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Вставка: подвесить к листу новую вершину, а затем просеять ее вверх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Извлечь максимум: обмен корня и листа, просеивание вниз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Удалить элемент: изменить приоритет на бесконечность, просеять вверх, извлечь максимум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Куча. Просеивание 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076275"/>
            <a:ext cx="37749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Для просеивания конкретного узла происходит за счет рекурсии и сравнения узла с детьми.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5975" y="1017725"/>
            <a:ext cx="4616326" cy="328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Кучи. Вставка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1076275"/>
            <a:ext cx="38781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Для вставки новый узел после создания цепляется в самом конце кучи, после чего происходит просеивание.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8625" y="1480825"/>
            <a:ext cx="4962525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Кучи. Удаление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11700" y="1076275"/>
            <a:ext cx="38781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Для удаления узла его необходимо поменять местами с последним узлом кучи, потом удалить и убедиться, что куча сохранила свои свойства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800" y="1017725"/>
            <a:ext cx="4649400" cy="289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Биномиальное дерево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236450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Биномиальное дерево </a:t>
            </a:r>
            <a:r>
              <a:rPr lang="ru" sz="1900">
                <a:solidFill>
                  <a:srgbClr val="000000"/>
                </a:solidFill>
              </a:rPr>
              <a:t>- </a:t>
            </a:r>
            <a:r>
              <a:rPr lang="ru" sz="1900">
                <a:solidFill>
                  <a:srgbClr val="000000"/>
                </a:solidFill>
              </a:rPr>
              <a:t>дерево, определяемое для каждого k=0,1,2,… следующим образом: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B</a:t>
            </a:r>
            <a:r>
              <a:rPr baseline="-25000" lang="ru" sz="1900">
                <a:solidFill>
                  <a:srgbClr val="000000"/>
                </a:solidFill>
              </a:rPr>
              <a:t>0</a:t>
            </a:r>
            <a:r>
              <a:rPr lang="ru" sz="1900">
                <a:solidFill>
                  <a:srgbClr val="000000"/>
                </a:solidFill>
              </a:rPr>
              <a:t> — дерево, состоящее из одного узла;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B</a:t>
            </a:r>
            <a:r>
              <a:rPr baseline="-25000" lang="ru" sz="1900">
                <a:solidFill>
                  <a:srgbClr val="000000"/>
                </a:solidFill>
              </a:rPr>
              <a:t>k</a:t>
            </a:r>
            <a:r>
              <a:rPr lang="ru" sz="1900">
                <a:solidFill>
                  <a:srgbClr val="000000"/>
                </a:solidFill>
              </a:rPr>
              <a:t> состоит из двух биномиальных деревьев B</a:t>
            </a:r>
            <a:r>
              <a:rPr baseline="-25000" lang="ru" sz="1900">
                <a:solidFill>
                  <a:srgbClr val="000000"/>
                </a:solidFill>
              </a:rPr>
              <a:t>k−1</a:t>
            </a:r>
            <a:r>
              <a:rPr lang="ru" sz="1900">
                <a:solidFill>
                  <a:srgbClr val="000000"/>
                </a:solidFill>
              </a:rPr>
              <a:t>, связанных вместе таким образом, что корень одного из них является дочерним узлом корня второго дерева.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Биномиальное дерево. Пример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791925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Примеры биномиального дерева для B</a:t>
            </a:r>
            <a:r>
              <a:rPr baseline="-25000" lang="ru" sz="1900">
                <a:solidFill>
                  <a:srgbClr val="000000"/>
                </a:solidFill>
              </a:rPr>
              <a:t>0</a:t>
            </a:r>
            <a:r>
              <a:rPr lang="ru" sz="1900">
                <a:solidFill>
                  <a:srgbClr val="000000"/>
                </a:solidFill>
              </a:rPr>
              <a:t>, B</a:t>
            </a:r>
            <a:r>
              <a:rPr baseline="-25000" lang="ru" sz="1900">
                <a:solidFill>
                  <a:srgbClr val="000000"/>
                </a:solidFill>
              </a:rPr>
              <a:t>2</a:t>
            </a:r>
            <a:r>
              <a:rPr lang="ru" sz="1900">
                <a:solidFill>
                  <a:srgbClr val="000000"/>
                </a:solidFill>
              </a:rPr>
              <a:t>, B</a:t>
            </a:r>
            <a:r>
              <a:rPr baseline="-25000" lang="ru" sz="1900">
                <a:solidFill>
                  <a:srgbClr val="000000"/>
                </a:solidFill>
              </a:rPr>
              <a:t>3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6974" y="1268925"/>
            <a:ext cx="4110050" cy="32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Биномиальное дерево. Свойства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236450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Биномиальное дерево B</a:t>
            </a:r>
            <a:r>
              <a:rPr baseline="-25000" lang="ru" sz="1900">
                <a:solidFill>
                  <a:srgbClr val="000000"/>
                </a:solidFill>
              </a:rPr>
              <a:t>k</a:t>
            </a:r>
            <a:r>
              <a:rPr lang="ru" sz="1900">
                <a:solidFill>
                  <a:srgbClr val="000000"/>
                </a:solidFill>
              </a:rPr>
              <a:t> с n вершинами: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Имеет 2</a:t>
            </a:r>
            <a:r>
              <a:rPr baseline="30000" lang="ru" sz="1900">
                <a:solidFill>
                  <a:srgbClr val="000000"/>
                </a:solidFill>
              </a:rPr>
              <a:t>k</a:t>
            </a:r>
            <a:r>
              <a:rPr lang="ru" sz="1900">
                <a:solidFill>
                  <a:srgbClr val="000000"/>
                </a:solidFill>
              </a:rPr>
              <a:t> узлов.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</a:t>
            </a:r>
            <a:r>
              <a:rPr lang="ru" sz="1900">
                <a:solidFill>
                  <a:srgbClr val="000000"/>
                </a:solidFill>
              </a:rPr>
              <a:t>меет высоту k.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Имеет ровно       узлов на высоте i, где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имеет корень степени k; степень всех остальных вершин меньше степени корня биномиального дерева(Степень - количество потомков)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максимальная степень произвольного узла равна logn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250" y="2571750"/>
            <a:ext cx="3905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 title="Безымянный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0740" y="2504475"/>
            <a:ext cx="162061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311700" y="1455750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Биномиальная куча представляет собой множество биномиальных деревьев, которые удовлетворяют следующим свойствам: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каждое биномиальное дерево в куче подчиняется свойству мин-кучи.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для любого неотрицательного целого k найдется не более одного биномиального дерева, чей корень имеет степень k.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Представление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45775" y="676525"/>
            <a:ext cx="85206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Количество детей у узлов варьируется в широких пределах, </a:t>
            </a:r>
            <a:r>
              <a:rPr lang="ru" sz="1900">
                <a:solidFill>
                  <a:srgbClr val="000000"/>
                </a:solidFill>
              </a:rPr>
              <a:t>поэтому</a:t>
            </a:r>
            <a:r>
              <a:rPr lang="ru" sz="1900">
                <a:solidFill>
                  <a:srgbClr val="000000"/>
                </a:solidFill>
              </a:rPr>
              <a:t> ссылка на детей осуществляется через левого ребенка, а остальные дети образуют односвязный список с </a:t>
            </a:r>
            <a:r>
              <a:rPr lang="ru" sz="1900">
                <a:solidFill>
                  <a:srgbClr val="000000"/>
                </a:solidFill>
              </a:rPr>
              <a:t>головой</a:t>
            </a:r>
            <a:r>
              <a:rPr lang="ru" sz="1900">
                <a:solidFill>
                  <a:srgbClr val="000000"/>
                </a:solidFill>
              </a:rPr>
              <a:t> в виде левого ребенка. Каждый узел в биномиальной куче представляется набором полей: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key — ключ (вес) элемента,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parent — указатель на родителя узла,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child — указатель на левого ребенка узла,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sibling — указатель на правого брата узла,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degree— степень узла.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Представление</a:t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345775" y="676525"/>
            <a:ext cx="85206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Корни деревьев, из которых состоит куча, содержатся в списке корней, при проходе по которому степени соответствующих корней находятся в возрастающем порядке. Доступ к куче осуществляется ссылкой на первый корень в списке корней. 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7525" y="2068500"/>
            <a:ext cx="4255245" cy="236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Получение минимума</a:t>
            </a:r>
            <a:endParaRPr/>
          </a:p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345775" y="67652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Для нахождения минимального элемента надо найти элемент в списке корней с минимальным значением. Для кучи, изображенной на картинке, будет возвращен указатель на вершину с ключом 1.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375" y="2031025"/>
            <a:ext cx="4255245" cy="236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Получение минимума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399325" y="853000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Какая сложность и почему?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98" name="Google Shape;19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399325" y="1391075"/>
            <a:ext cx="8190000" cy="30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PT Sans"/>
                <a:ea typeface="PT Sans"/>
                <a:cs typeface="PT Sans"/>
                <a:sym typeface="PT Sans"/>
              </a:rPr>
              <a:t>Сложность - O(log n)</a:t>
            </a:r>
            <a:endParaRPr sz="1900"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PT Sans"/>
                <a:ea typeface="PT Sans"/>
                <a:cs typeface="PT Sans"/>
                <a:sym typeface="PT Sans"/>
              </a:rPr>
              <a:t>Обоснование:</a:t>
            </a:r>
            <a:endParaRPr sz="1900"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PT Sans"/>
                <a:ea typeface="PT Sans"/>
                <a:cs typeface="PT Sans"/>
                <a:sym typeface="PT Sans"/>
              </a:rPr>
              <a:t>Корней в списке не более ⌊logn⌋+1 =&gt; необходимо просмотреть не более </a:t>
            </a:r>
            <a:r>
              <a:rPr lang="ru" sz="1900">
                <a:latin typeface="PT Sans"/>
                <a:ea typeface="PT Sans"/>
                <a:cs typeface="PT Sans"/>
                <a:sym typeface="PT Sans"/>
              </a:rPr>
              <a:t>⌊logn⌋+1 элементов =&gt; сложность O(log n)</a:t>
            </a:r>
            <a:endParaRPr sz="19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Слияние</a:t>
            </a:r>
            <a:endParaRPr/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345775" y="676525"/>
            <a:ext cx="85206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Пусть есть две биномиальные кучи H и H′.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Размеры деревьев в кучах соответствуют двоичным числам m и n, то если дерево есть, то в соответствующем разряде стоит 1, иначе 0.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При сложении в двоичной системе происходят переносы, которые соответствуют слияниям двух биномиальных деревьев B</a:t>
            </a:r>
            <a:r>
              <a:rPr baseline="-25000" lang="ru" sz="1900">
                <a:solidFill>
                  <a:srgbClr val="000000"/>
                </a:solidFill>
              </a:rPr>
              <a:t>k−1</a:t>
            </a:r>
            <a:r>
              <a:rPr lang="ru" sz="1900">
                <a:solidFill>
                  <a:srgbClr val="000000"/>
                </a:solidFill>
              </a:rPr>
              <a:t> в дерево B</a:t>
            </a:r>
            <a:r>
              <a:rPr baseline="-25000" lang="ru" sz="1900">
                <a:solidFill>
                  <a:srgbClr val="000000"/>
                </a:solidFill>
              </a:rPr>
              <a:t>k</a:t>
            </a:r>
            <a:r>
              <a:rPr lang="ru" sz="1900">
                <a:solidFill>
                  <a:srgbClr val="000000"/>
                </a:solidFill>
              </a:rPr>
              <a:t>. Верхним будет дерево с наименьшим корнем.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Пример представления кучи в виде двоичного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числа: 1101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206" name="Google Shape;20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07" name="Google Shape;20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575" y="3230400"/>
            <a:ext cx="2573551" cy="14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Слияние</a:t>
            </a:r>
            <a:endParaRPr/>
          </a:p>
        </p:txBody>
      </p:sp>
      <p:sp>
        <p:nvSpPr>
          <p:cNvPr id="213" name="Google Shape;21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14" name="Google Shape;21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1113" y="842963"/>
            <a:ext cx="6677025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Слияние</a:t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399325" y="853000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Какая сложность и почему?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21" name="Google Shape;22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399325" y="1391075"/>
            <a:ext cx="8190000" cy="30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PT Sans"/>
                <a:ea typeface="PT Sans"/>
                <a:cs typeface="PT Sans"/>
                <a:sym typeface="PT Sans"/>
              </a:rPr>
              <a:t>Сложность - O(log n)</a:t>
            </a:r>
            <a:endParaRPr sz="1900"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PT Sans"/>
                <a:ea typeface="PT Sans"/>
                <a:cs typeface="PT Sans"/>
                <a:sym typeface="PT Sans"/>
              </a:rPr>
              <a:t>Обоснование:</a:t>
            </a:r>
            <a:endParaRPr sz="1900"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PT Sans"/>
                <a:ea typeface="PT Sans"/>
                <a:cs typeface="PT Sans"/>
                <a:sym typeface="PT Sans"/>
              </a:rPr>
              <a:t>В получившемся списке могут встречаться пары соседних вершин одинаковой степени. Соединяем деревья равной степени и делаем это до тех пор, пока деревьев одинаковой степени не останется. Этот процесс соответствует сложению двоичных чисел столбиком, и время его работы пропорционально числу корневых вершин.</a:t>
            </a:r>
            <a:endParaRPr sz="19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Вставка</a:t>
            </a:r>
            <a:endParaRPr/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311700" y="791925"/>
            <a:ext cx="8520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➢"/>
            </a:pPr>
            <a:r>
              <a:rPr lang="ru" sz="1700">
                <a:solidFill>
                  <a:srgbClr val="000000"/>
                </a:solidFill>
              </a:rPr>
              <a:t>Создаем биномиальную кучу с одним элементом.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➢"/>
            </a:pPr>
            <a:r>
              <a:rPr lang="ru" sz="1700">
                <a:solidFill>
                  <a:srgbClr val="000000"/>
                </a:solidFill>
              </a:rPr>
              <a:t>Объединить ее с нашей биномиальной кучей.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Какая сложность и почему?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229" name="Google Shape;22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311700" y="2331050"/>
            <a:ext cx="8520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Сложность - O(logn)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Обоснование: Одна из сливаемых куч имеет всего одно дерево =&gt; “перенос разряда” необходимо будет сделать не более logn раз</a:t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Извлечение минимума</a:t>
            </a:r>
            <a:endParaRPr/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311700" y="791925"/>
            <a:ext cx="85206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➢"/>
            </a:pPr>
            <a:r>
              <a:rPr lang="ru" sz="1700">
                <a:solidFill>
                  <a:srgbClr val="000000"/>
                </a:solidFill>
              </a:rPr>
              <a:t>Находим биномиальное дерево с минимальным корнем.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➢"/>
            </a:pPr>
            <a:r>
              <a:rPr lang="ru" sz="1700">
                <a:solidFill>
                  <a:srgbClr val="000000"/>
                </a:solidFill>
              </a:rPr>
              <a:t>Удаляем корень данного дерева из списка корней кучи.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➢"/>
            </a:pPr>
            <a:r>
              <a:rPr lang="ru" sz="1700">
                <a:solidFill>
                  <a:srgbClr val="000000"/>
                </a:solidFill>
              </a:rPr>
              <a:t>Представляем детей данного узла как биномиальную кучу.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➢"/>
            </a:pPr>
            <a:r>
              <a:rPr lang="ru" sz="1700">
                <a:solidFill>
                  <a:srgbClr val="000000"/>
                </a:solidFill>
              </a:rPr>
              <a:t>Производим слияние нашей кучи с кучей потомком удаленного узла.</a:t>
            </a:r>
            <a:endParaRPr sz="17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Какая сложность и почему?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237" name="Google Shape;23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311700" y="791925"/>
            <a:ext cx="85206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                                                                                                      - </a:t>
            </a:r>
            <a:r>
              <a:rPr lang="ru" sz="1700">
                <a:solidFill>
                  <a:srgbClr val="000000"/>
                </a:solidFill>
              </a:rPr>
              <a:t> </a:t>
            </a:r>
            <a:r>
              <a:rPr lang="ru" sz="1700">
                <a:solidFill>
                  <a:srgbClr val="000000"/>
                </a:solidFill>
              </a:rPr>
              <a:t>Θ(logn)</a:t>
            </a:r>
            <a:r>
              <a:rPr lang="ru" sz="1700">
                <a:solidFill>
                  <a:srgbClr val="000000"/>
                </a:solidFill>
              </a:rPr>
              <a:t> </a:t>
            </a:r>
            <a:endParaRPr sz="17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                                                                                                     - O(1)</a:t>
            </a:r>
            <a:endParaRPr sz="17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                                                                                                          - O(log n)</a:t>
            </a:r>
            <a:endParaRPr sz="17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                                                                                                                           - O(log n)</a:t>
            </a:r>
            <a:endParaRPr sz="17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Сложность - Θ(logn)</a:t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Извлечение минимума</a:t>
            </a:r>
            <a:endParaRPr/>
          </a:p>
        </p:txBody>
      </p:sp>
      <p:sp>
        <p:nvSpPr>
          <p:cNvPr id="244" name="Google Shape;24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45" name="Google Shape;24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449" y="668674"/>
            <a:ext cx="4838350" cy="38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Уменьшение ключа узла</a:t>
            </a:r>
            <a:endParaRPr/>
          </a:p>
        </p:txBody>
      </p:sp>
      <p:sp>
        <p:nvSpPr>
          <p:cNvPr id="251" name="Google Shape;251;p36"/>
          <p:cNvSpPr txBox="1"/>
          <p:nvPr>
            <p:ph idx="1" type="body"/>
          </p:nvPr>
        </p:nvSpPr>
        <p:spPr>
          <a:xfrm>
            <a:off x="311700" y="1077000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Изменяем значение ключа в этом узле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Просеиваем ключ вверх, как в обычной куче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Какая сложность и почему?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52" name="Google Shape;25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53" name="Google Shape;253;p36"/>
          <p:cNvSpPr txBox="1"/>
          <p:nvPr>
            <p:ph idx="1" type="body"/>
          </p:nvPr>
        </p:nvSpPr>
        <p:spPr>
          <a:xfrm>
            <a:off x="311700" y="3046350"/>
            <a:ext cx="8520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Сложность - Θ(logn)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Обоснование: глубина узла, ключ которого нам необходимо изменить в худшем случае </a:t>
            </a:r>
            <a:r>
              <a:rPr lang="ru" sz="1700">
                <a:solidFill>
                  <a:srgbClr val="000000"/>
                </a:solidFill>
              </a:rPr>
              <a:t>⌊logn⌋+1. На каждом шаге движемся вверх по дереву.</a:t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/>
          <p:nvPr>
            <p:ph type="title"/>
          </p:nvPr>
        </p:nvSpPr>
        <p:spPr>
          <a:xfrm>
            <a:off x="399325" y="219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Биномиальная куча. Удаление ключа</a:t>
            </a:r>
            <a:endParaRPr/>
          </a:p>
        </p:txBody>
      </p:sp>
      <p:sp>
        <p:nvSpPr>
          <p:cNvPr id="259" name="Google Shape;259;p37"/>
          <p:cNvSpPr txBox="1"/>
          <p:nvPr>
            <p:ph idx="1" type="body"/>
          </p:nvPr>
        </p:nvSpPr>
        <p:spPr>
          <a:xfrm>
            <a:off x="311700" y="79192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Изменяем значение ключа в этом узле на минимально возможное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Просеиваем ключ вверх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Извлекаем минимум из кучи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Сливаем нашу кучу с кучей детей удаленного ключа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Более простым языком: уменьшение ключа и удаление минимального элемента.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Какая сложность и почему?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60" name="Google Shape;26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61" name="Google Shape;261;p37"/>
          <p:cNvSpPr txBox="1"/>
          <p:nvPr>
            <p:ph idx="1" type="body"/>
          </p:nvPr>
        </p:nvSpPr>
        <p:spPr>
          <a:xfrm>
            <a:off x="3402900" y="3850750"/>
            <a:ext cx="2116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</a:rPr>
              <a:t>Сложность - Θ(logn)</a:t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Очереди с приоритетом</a:t>
            </a:r>
            <a:endParaRPr/>
          </a:p>
        </p:txBody>
      </p:sp>
      <p:sp>
        <p:nvSpPr>
          <p:cNvPr id="267" name="Google Shape;267;p38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Очереди с приоритетом - это абстрактным тип данных, поддерживащий следующие операции: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добавление нового элемента в очередь с заданным приоритетом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извлечение элемента с максимальным приоритетом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удаление заданного элемента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нахождение максимального приоритета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изменение приоритета заданного элемента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68" name="Google Shape;26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Очереди с приоритетом</a:t>
            </a:r>
            <a:endParaRPr/>
          </a:p>
        </p:txBody>
      </p:sp>
      <p:sp>
        <p:nvSpPr>
          <p:cNvPr id="274" name="Google Shape;274;p39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Варианты реализации очереди можно разделить на: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Простейшие реализации: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Связный список/массив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Упорядоченный массив/список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Эффективная реализация: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Двоичная куча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Биномиальная куча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75" name="Google Shape;27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76" name="Google Shape;27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774" y="1230250"/>
            <a:ext cx="2050725" cy="134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4625" y="2813104"/>
            <a:ext cx="3693873" cy="1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Вопросы по курсу можно задавать:</a:t>
            </a:r>
            <a:endParaRPr/>
          </a:p>
        </p:txBody>
      </p:sp>
      <p:sp>
        <p:nvSpPr>
          <p:cNvPr id="283" name="Google Shape;28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" name="Google Shape;284;p40"/>
          <p:cNvSpPr txBox="1"/>
          <p:nvPr>
            <p:ph type="title"/>
          </p:nvPr>
        </p:nvSpPr>
        <p:spPr>
          <a:xfrm>
            <a:off x="70775" y="3060025"/>
            <a:ext cx="89250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Почта дисциплины -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alg@moevm.info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Иванов Дмитрий Владимирович - </a:t>
            </a:r>
            <a:r>
              <a:rPr lang="ru" sz="2400" u="sng">
                <a:solidFill>
                  <a:schemeClr val="hlink"/>
                </a:solidFill>
                <a:hlinkClick r:id="rId4"/>
              </a:rPr>
              <a:t>dmitry.ivanov@moevm.info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Шалагинов Иван Владимирович - </a:t>
            </a:r>
            <a:r>
              <a:rPr lang="ru" sz="2400" u="sng">
                <a:solidFill>
                  <a:schemeClr val="hlink"/>
                </a:solidFill>
                <a:hlinkClick r:id="rId5"/>
              </a:rPr>
              <a:t>ivan.shalaginov@moevm.info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Лэти тема">
  <a:themeElements>
    <a:clrScheme name="corp_colors">
      <a:dk1>
        <a:srgbClr val="05336E"/>
      </a:dk1>
      <a:lt1>
        <a:srgbClr val="FFFFFF"/>
      </a:lt1>
      <a:dk2>
        <a:srgbClr val="05336E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67A7F8"/>
      </a:hlink>
      <a:folHlink>
        <a:srgbClr val="67A7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