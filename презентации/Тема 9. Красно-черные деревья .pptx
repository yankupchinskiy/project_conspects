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Proxima Nova"/>
      <p:regular r:id="rId29"/>
      <p:bold r:id="rId30"/>
      <p:italic r:id="rId31"/>
      <p:boldItalic r:id="rId32"/>
    </p:embeddedFont>
    <p:embeddedFont>
      <p:font typeface="PT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6.xml"/><Relationship Id="rId33" Type="http://schemas.openxmlformats.org/officeDocument/2006/relationships/font" Target="fonts/PTSans-regular.fntdata"/><Relationship Id="rId10" Type="http://schemas.openxmlformats.org/officeDocument/2006/relationships/slide" Target="slides/slide5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35" Type="http://schemas.openxmlformats.org/officeDocument/2006/relationships/font" Target="fonts/PTSans-italic.fntdata"/><Relationship Id="rId12" Type="http://schemas.openxmlformats.org/officeDocument/2006/relationships/slide" Target="slides/slide7.xml"/><Relationship Id="rId34" Type="http://schemas.openxmlformats.org/officeDocument/2006/relationships/font" Target="fonts/PT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PT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ru.wikipedia.org/wiki/%D0%9A%D1%80%D0%B0%D1%81%D0%BD%D0%BE-%D1%87%D1%91%D1%80%D0%BD%D0%BE%D0%B5_%D0%B4%D0%B5%D1%80%D0%B5%D0%B2%D0%BE#%D0%92%D1%81%D1%82%D0%B0%D0%B2%D0%BA%D0%B0" TargetMode="External"/><Relationship Id="rId4" Type="http://schemas.openxmlformats.org/officeDocument/2006/relationships/hyperlink" Target="https://habr.com/ru/articles/573502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Красно-черные деревья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Красно-черные деревья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Красно-черное дерево - это </a:t>
            </a:r>
            <a:r>
              <a:rPr b="1" i="1" lang="ru" sz="1900">
                <a:solidFill>
                  <a:srgbClr val="000000"/>
                </a:solidFill>
              </a:rPr>
              <a:t>бинарное дерево поиска</a:t>
            </a:r>
            <a:r>
              <a:rPr lang="ru" sz="1900">
                <a:solidFill>
                  <a:srgbClr val="000000"/>
                </a:solidFill>
              </a:rPr>
              <a:t> с одним дополнительным битом цвета в каждом узле. Цвет узла может быть либо красным (red), либо черным (black).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Красно-черные деревья являются приближенно сбалансированными: ни один путь от корня до листа (являющимся его потомком) в красно-черном дереве не отличается от другого по длине более чем в два раза.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Обязательные свойства КЧ деревьев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Каждый узел является либо красным, либо черным.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Корень дерева является черным узлом.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Каждый лист дерева (</a:t>
            </a:r>
            <a:r>
              <a:rPr b="1" i="1" lang="ru" sz="1900">
                <a:solidFill>
                  <a:srgbClr val="000000"/>
                </a:solidFill>
              </a:rPr>
              <a:t>NIL</a:t>
            </a:r>
            <a:r>
              <a:rPr lang="ru" sz="1900">
                <a:solidFill>
                  <a:srgbClr val="000000"/>
                </a:solidFill>
              </a:rPr>
              <a:t>) является черным узлом.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узел красный, то оба его дочерних узла черные.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Для каждого узла все пути от него до листьев, являющихся потомками данного узла, содержат одно и то же количество черных узлов.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Пример красно-черного дерева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076275"/>
            <a:ext cx="8520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475" y="720495"/>
            <a:ext cx="8337050" cy="3839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Поиск ключа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Поиск в красно-черном дереве ничем не отличается от поиска в бинарном дереве поиска.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Спускаемся вниз по текущему красно-черному дереву, выбирая направление спуска, как результат сравнения искомого ключа со значением ключа текущего узла (Если совпал ключ с искомым, то поиск завершен, если искомый меньше текущего, то идем в левую ветку, иначе в правую).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ключа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Вставляемый узел всегда сначала имеет красный цвет.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Пусть буквой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будем обозначать текущий узел.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будем обозначать предка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, через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 обозначим дедушку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, а </a:t>
            </a:r>
            <a:r>
              <a:rPr b="1" lang="ru" sz="1900">
                <a:solidFill>
                  <a:srgbClr val="000000"/>
                </a:solidFill>
              </a:rPr>
              <a:t>U</a:t>
            </a:r>
            <a:r>
              <a:rPr lang="ru" sz="1900">
                <a:solidFill>
                  <a:srgbClr val="000000"/>
                </a:solidFill>
              </a:rPr>
              <a:t> будем обозначать дядю (узел, имеющий общего родителя с узлом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).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Структура отношений узлов (цвета в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        данном случае не имеют значения):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9850" y="2407850"/>
            <a:ext cx="3142225" cy="20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ключа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11700" y="1076275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1:</a:t>
            </a:r>
            <a:r>
              <a:rPr lang="ru" sz="1900">
                <a:solidFill>
                  <a:srgbClr val="000000"/>
                </a:solidFill>
              </a:rPr>
              <a:t> Текущий узел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вставляется в корень дерева. В этом случае он просто перекрашивается в чёрный цвет и вставка завершена.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2:</a:t>
            </a:r>
            <a:r>
              <a:rPr lang="ru" sz="1900">
                <a:solidFill>
                  <a:srgbClr val="000000"/>
                </a:solidFill>
              </a:rPr>
              <a:t> Предок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текущего узла чёрный. В данном случае просто вставляем узел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и свойства не будут нарушены.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269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ключа</a:t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350" y="2924175"/>
            <a:ext cx="4907349" cy="161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77252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3: </a:t>
            </a:r>
            <a:r>
              <a:rPr lang="ru" sz="1900">
                <a:solidFill>
                  <a:srgbClr val="000000"/>
                </a:solidFill>
              </a:rPr>
              <a:t>Если родитель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и дядя </a:t>
            </a:r>
            <a:r>
              <a:rPr b="1" lang="ru" sz="1900">
                <a:solidFill>
                  <a:srgbClr val="000000"/>
                </a:solidFill>
              </a:rPr>
              <a:t>U</a:t>
            </a:r>
            <a:r>
              <a:rPr lang="ru" sz="1900">
                <a:solidFill>
                  <a:srgbClr val="000000"/>
                </a:solidFill>
              </a:rPr>
              <a:t> — красные, то они оба могут быть перекрашены в чёрный, а дедушка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 станет красным (для сохранения числа черных узлов). Однако, дедушка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 теперь может нарушить свойства 2 или 4. Чтобы это исправить, вся процедура вставки рекурсивно выполняется для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 (Т.е. считаем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 новым ключом и заново проверяем все случаи).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206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ключа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188" y="2779175"/>
            <a:ext cx="5809625" cy="177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644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4: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- красный, но </a:t>
            </a:r>
            <a:r>
              <a:rPr b="1" lang="ru" sz="1900">
                <a:solidFill>
                  <a:srgbClr val="000000"/>
                </a:solidFill>
              </a:rPr>
              <a:t>U</a:t>
            </a:r>
            <a:r>
              <a:rPr lang="ru" sz="1900">
                <a:solidFill>
                  <a:srgbClr val="000000"/>
                </a:solidFill>
              </a:rPr>
              <a:t> — чёрный,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— левый потомок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и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— левый потомок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. В этом случае выполняется малый правый поворот дерева относительно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. Известно, что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 — чёрный, так как его бывший потомок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не мог бы в противном случае быть красным. Тогда цвета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и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 меняются и в результате дерево удовлетворяет Свойствам 4 и 5.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242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ключа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500" y="2531875"/>
            <a:ext cx="5937001" cy="1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738775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5:</a:t>
            </a:r>
            <a:r>
              <a:rPr lang="ru" sz="1900">
                <a:solidFill>
                  <a:srgbClr val="000000"/>
                </a:solidFill>
              </a:rPr>
              <a:t>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- красный, но </a:t>
            </a:r>
            <a:r>
              <a:rPr b="1" lang="ru" sz="1900">
                <a:solidFill>
                  <a:srgbClr val="000000"/>
                </a:solidFill>
              </a:rPr>
              <a:t>U</a:t>
            </a:r>
            <a:r>
              <a:rPr lang="ru" sz="1900">
                <a:solidFill>
                  <a:srgbClr val="000000"/>
                </a:solidFill>
              </a:rPr>
              <a:t> — чёрный. Также,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— правый потомок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, а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— левый потомок </a:t>
            </a:r>
            <a:r>
              <a:rPr b="1" lang="ru" sz="1900">
                <a:solidFill>
                  <a:srgbClr val="000000"/>
                </a:solidFill>
              </a:rPr>
              <a:t>G</a:t>
            </a:r>
            <a:r>
              <a:rPr lang="ru" sz="1900">
                <a:solidFill>
                  <a:srgbClr val="000000"/>
                </a:solidFill>
              </a:rPr>
              <a:t>. В этом случае может быть произведен малый левый поворот дерева относительно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. Тогда, для бывшего родительского узла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в обновленной структуре все сводится к случаю 4, его и используем.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ключа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Примечание:</a:t>
            </a:r>
            <a:r>
              <a:rPr lang="ru" sz="1900">
                <a:solidFill>
                  <a:srgbClr val="000000"/>
                </a:solidFill>
              </a:rPr>
              <a:t> В случаях 4 и 5 предполагается, что родитель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является левым потомком своего предка. Если это не так, необходимо поменять </a:t>
            </a:r>
            <a:r>
              <a:rPr i="1" lang="ru" sz="1900">
                <a:solidFill>
                  <a:srgbClr val="000000"/>
                </a:solidFill>
              </a:rPr>
              <a:t>лево</a:t>
            </a:r>
            <a:r>
              <a:rPr lang="ru" sz="1900">
                <a:solidFill>
                  <a:srgbClr val="000000"/>
                </a:solidFill>
              </a:rPr>
              <a:t> и </a:t>
            </a:r>
            <a:r>
              <a:rPr i="1" lang="ru" sz="1900">
                <a:solidFill>
                  <a:srgbClr val="000000"/>
                </a:solidFill>
              </a:rPr>
              <a:t>право </a:t>
            </a:r>
            <a:r>
              <a:rPr lang="ru" sz="1900">
                <a:solidFill>
                  <a:srgbClr val="000000"/>
                </a:solidFill>
              </a:rPr>
              <a:t>местами.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19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34575" y="676525"/>
            <a:ext cx="8520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1:</a:t>
            </a:r>
            <a:r>
              <a:rPr lang="ru" sz="1900">
                <a:solidFill>
                  <a:srgbClr val="000000"/>
                </a:solidFill>
              </a:rPr>
              <a:t> Удаление узла с двумя нелистовыми потомками. При подобной операции в обычном двоичном дереве поиска мы ищем наименьший элемент в его правом поддереве и перемещаем его значение в удаляемый узел. Затем мы удаляем узел, из которого копировали значение. Копирование значения из одного узла в другой не нарушает свойств красно-чёрного дерева.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Стоит заметить, что новый удаляемый узел не может иметь сразу два дочерних нелистовых узла, так как в противном случае он не будет являться наименьшим элементом.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8" name="Google Shape;17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Таким образом, получается, что случай удаления узла, имеющего два нелистовых потомка, сводится к случаю удаления узла, содержащего как </a:t>
            </a:r>
            <a:r>
              <a:rPr b="1" i="1" lang="ru" sz="1900">
                <a:solidFill>
                  <a:srgbClr val="000000"/>
                </a:solidFill>
              </a:rPr>
              <a:t>максимум</a:t>
            </a:r>
            <a:r>
              <a:rPr lang="ru" sz="1900">
                <a:solidFill>
                  <a:srgbClr val="000000"/>
                </a:solidFill>
              </a:rPr>
              <a:t> </a:t>
            </a:r>
            <a:r>
              <a:rPr b="1" i="1" lang="ru" sz="1900">
                <a:solidFill>
                  <a:srgbClr val="000000"/>
                </a:solidFill>
              </a:rPr>
              <a:t>один</a:t>
            </a:r>
            <a:r>
              <a:rPr lang="ru" sz="1900">
                <a:solidFill>
                  <a:srgbClr val="000000"/>
                </a:solidFill>
              </a:rPr>
              <a:t> дочерний нелистовой узел.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Поэтому дальнейшее описание будет исходить из предположения существования у удаляемого узла не более одного нелистового потомка.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Будем использовать обозначение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 для удаляемого узла; через </a:t>
            </a:r>
            <a:r>
              <a:rPr b="1" lang="ru" sz="1900">
                <a:solidFill>
                  <a:srgbClr val="000000"/>
                </a:solidFill>
              </a:rPr>
              <a:t>C</a:t>
            </a:r>
            <a:r>
              <a:rPr lang="ru" sz="1900">
                <a:solidFill>
                  <a:srgbClr val="000000"/>
                </a:solidFill>
              </a:rPr>
              <a:t> обозначим потомка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85" name="Google Shape;18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311700" y="210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311700" y="726250"/>
            <a:ext cx="8520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2: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 является красным узлом. В таком случае заменим его своим потомком </a:t>
            </a:r>
            <a:r>
              <a:rPr b="1" lang="ru" sz="1900">
                <a:solidFill>
                  <a:srgbClr val="000000"/>
                </a:solidFill>
              </a:rPr>
              <a:t>C</a:t>
            </a:r>
            <a:r>
              <a:rPr lang="ru" sz="1900">
                <a:solidFill>
                  <a:srgbClr val="000000"/>
                </a:solidFill>
              </a:rPr>
              <a:t>, который по определению должен быть чёрным.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lang="ru" sz="1900">
                <a:solidFill>
                  <a:srgbClr val="000000"/>
                </a:solidFill>
              </a:rPr>
              <a:t>Случай 3</a:t>
            </a:r>
            <a:r>
              <a:rPr lang="ru" sz="1900">
                <a:solidFill>
                  <a:srgbClr val="000000"/>
                </a:solidFill>
              </a:rPr>
              <a:t>: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 — чёрный и </a:t>
            </a:r>
            <a:r>
              <a:rPr b="1" lang="ru" sz="1900">
                <a:solidFill>
                  <a:srgbClr val="000000"/>
                </a:solidFill>
              </a:rPr>
              <a:t>C</a:t>
            </a:r>
            <a:r>
              <a:rPr lang="ru" sz="1900">
                <a:solidFill>
                  <a:srgbClr val="000000"/>
                </a:solidFill>
              </a:rPr>
              <a:t> — красный. Простое удаление чёрного узла нарушит свойства 4 и 5, но если мы перекрасим </a:t>
            </a:r>
            <a:r>
              <a:rPr b="1" lang="ru" sz="1900">
                <a:solidFill>
                  <a:srgbClr val="000000"/>
                </a:solidFill>
              </a:rPr>
              <a:t>С</a:t>
            </a:r>
            <a:r>
              <a:rPr lang="ru" sz="1900">
                <a:solidFill>
                  <a:srgbClr val="000000"/>
                </a:solidFill>
              </a:rPr>
              <a:t> в чёрный, оба эти свойства сохранятся.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4: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 — чёрный и </a:t>
            </a:r>
            <a:r>
              <a:rPr b="1" lang="ru" sz="1900">
                <a:solidFill>
                  <a:srgbClr val="000000"/>
                </a:solidFill>
              </a:rPr>
              <a:t>C</a:t>
            </a:r>
            <a:r>
              <a:rPr lang="ru" sz="1900">
                <a:solidFill>
                  <a:srgbClr val="000000"/>
                </a:solidFill>
              </a:rPr>
              <a:t> — чёрный. В таком случае </a:t>
            </a:r>
            <a:r>
              <a:rPr b="1" lang="ru" sz="1900">
                <a:solidFill>
                  <a:srgbClr val="000000"/>
                </a:solidFill>
              </a:rPr>
              <a:t>M </a:t>
            </a:r>
            <a:r>
              <a:rPr lang="ru" sz="1900">
                <a:solidFill>
                  <a:srgbClr val="000000"/>
                </a:solidFill>
              </a:rPr>
              <a:t>имеет 2 листа и </a:t>
            </a:r>
            <a:r>
              <a:rPr b="1" lang="ru" sz="1900">
                <a:solidFill>
                  <a:srgbClr val="000000"/>
                </a:solidFill>
              </a:rPr>
              <a:t>C</a:t>
            </a:r>
            <a:r>
              <a:rPr lang="ru" sz="1900">
                <a:solidFill>
                  <a:srgbClr val="000000"/>
                </a:solidFill>
              </a:rPr>
              <a:t> - один из листов, иначе нарушается свойство 5. Данный случай сложен, так как идет удаление чёрной вершины, а значит меняется чёрная высота ветки. Мы начнём с замены узла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 своим потомком </a:t>
            </a:r>
            <a:r>
              <a:rPr b="1" lang="ru" sz="1900">
                <a:solidFill>
                  <a:srgbClr val="000000"/>
                </a:solidFill>
              </a:rPr>
              <a:t>C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lang="ru" sz="1900">
                <a:solidFill>
                  <a:srgbClr val="000000"/>
                </a:solidFill>
              </a:rPr>
              <a:t>Рассмотрим случаи балансировки КЧ дерева при таком удалении.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Переобозначим за </a:t>
            </a:r>
            <a:r>
              <a:rPr b="1" lang="ru" sz="1900">
                <a:solidFill>
                  <a:srgbClr val="000000"/>
                </a:solidFill>
              </a:rPr>
              <a:t>N </a:t>
            </a:r>
            <a:r>
              <a:rPr lang="ru" sz="1900">
                <a:solidFill>
                  <a:srgbClr val="000000"/>
                </a:solidFill>
              </a:rPr>
              <a:t>вершину </a:t>
            </a:r>
            <a:r>
              <a:rPr b="1" lang="ru" sz="1900">
                <a:solidFill>
                  <a:srgbClr val="000000"/>
                </a:solidFill>
              </a:rPr>
              <a:t>C</a:t>
            </a:r>
            <a:r>
              <a:rPr lang="ru" sz="1900">
                <a:solidFill>
                  <a:srgbClr val="000000"/>
                </a:solidFill>
              </a:rPr>
              <a:t> (которая является листом или </a:t>
            </a:r>
            <a:r>
              <a:rPr b="1" lang="ru" sz="1900">
                <a:solidFill>
                  <a:srgbClr val="000000"/>
                </a:solidFill>
              </a:rPr>
              <a:t>NIL</a:t>
            </a:r>
            <a:r>
              <a:rPr lang="ru" sz="1900">
                <a:solidFill>
                  <a:srgbClr val="000000"/>
                </a:solidFill>
              </a:rPr>
              <a:t> другими словами), 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- родитель удаленной вершины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,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- “брат” удаленной вершины </a:t>
            </a:r>
            <a:r>
              <a:rPr b="1" lang="ru" sz="1900">
                <a:solidFill>
                  <a:srgbClr val="000000"/>
                </a:solidFill>
              </a:rPr>
              <a:t>M</a:t>
            </a:r>
            <a:r>
              <a:rPr lang="ru" sz="1900">
                <a:solidFill>
                  <a:srgbClr val="000000"/>
                </a:solidFill>
              </a:rPr>
              <a:t>, </a:t>
            </a:r>
            <a:r>
              <a:rPr b="1" lang="ru" sz="1900">
                <a:solidFill>
                  <a:srgbClr val="000000"/>
                </a:solidFill>
              </a:rPr>
              <a:t>S_l </a:t>
            </a:r>
            <a:r>
              <a:rPr lang="ru" sz="1900">
                <a:solidFill>
                  <a:srgbClr val="000000"/>
                </a:solidFill>
              </a:rPr>
              <a:t>- левый потомок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, </a:t>
            </a:r>
            <a:r>
              <a:rPr b="1" lang="ru" sz="1900">
                <a:solidFill>
                  <a:srgbClr val="000000"/>
                </a:solidFill>
              </a:rPr>
              <a:t>S_r</a:t>
            </a:r>
            <a:r>
              <a:rPr lang="ru" sz="1900">
                <a:solidFill>
                  <a:srgbClr val="000000"/>
                </a:solidFill>
              </a:rPr>
              <a:t> - правый потомок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Белым</a:t>
            </a:r>
            <a:r>
              <a:rPr lang="ru" sz="1900">
                <a:solidFill>
                  <a:srgbClr val="000000"/>
                </a:solidFill>
              </a:rPr>
              <a:t> </a:t>
            </a:r>
            <a:r>
              <a:rPr i="1" lang="ru" sz="1900">
                <a:solidFill>
                  <a:srgbClr val="000000"/>
                </a:solidFill>
              </a:rPr>
              <a:t>обозначаются вершины</a:t>
            </a:r>
            <a:endParaRPr i="1"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ru" sz="1900">
                <a:solidFill>
                  <a:srgbClr val="000000"/>
                </a:solidFill>
              </a:rPr>
              <a:t>       цвет которых может быть любым.</a:t>
            </a:r>
            <a:endParaRPr i="1" sz="1900">
              <a:solidFill>
                <a:srgbClr val="000000"/>
              </a:solidFill>
            </a:endParaRPr>
          </a:p>
        </p:txBody>
      </p:sp>
      <p:sp>
        <p:nvSpPr>
          <p:cNvPr id="199" name="Google Shape;19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0" name="Google Shape;20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8113" y="2908888"/>
            <a:ext cx="372427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25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801950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4.1:</a:t>
            </a:r>
            <a:r>
              <a:rPr lang="ru" sz="1900">
                <a:solidFill>
                  <a:srgbClr val="000000"/>
                </a:solidFill>
              </a:rPr>
              <a:t>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— новый корень. В этом случае дерево стало пустым.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b="1" lang="ru" sz="1900">
                <a:solidFill>
                  <a:srgbClr val="000000"/>
                </a:solidFill>
              </a:rPr>
              <a:t>С</a:t>
            </a:r>
            <a:r>
              <a:rPr b="1" i="1" lang="ru" sz="1900">
                <a:solidFill>
                  <a:srgbClr val="000000"/>
                </a:solidFill>
              </a:rPr>
              <a:t>лучай 4.2:</a:t>
            </a:r>
            <a:r>
              <a:rPr lang="ru" sz="1900">
                <a:solidFill>
                  <a:srgbClr val="000000"/>
                </a:solidFill>
              </a:rPr>
              <a:t>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— красный. В этом случае мы меняем цвета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и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, и затем делаем вращение влево вокруг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, ставя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дедушкой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. Теперь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имеет чёрного брата и красного отца, поэтому мы свели к случаю 4.4, 4.5 или 4.6.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07" name="Google Shape;20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8" name="Google Shape;2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725" y="2571750"/>
            <a:ext cx="5134550" cy="18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311700" y="262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311700" y="773400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4.3: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,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, и дети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— чёрные. В этом случае мы просто перекрашиваем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в красный. Тем не менее, все проходящие через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пути теперь содержат на один чёрный узел меньше, чем пути, которые через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не проходят, поэтому свойство 5 все ещё нарушено. Чтобы это исправить, мы применяем процедуру перебалансировки к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, начиная со случая 4.1.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15" name="Google Shape;21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936663"/>
            <a:ext cx="487680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311700" y="1076275"/>
            <a:ext cx="8520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4.4: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и его дети — чёрные, но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— красный. В этом случае мы просто меняем цвета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и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24" name="Google Shape;2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2725" y="2418000"/>
            <a:ext cx="4876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193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640550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4.5: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— чёрный, </a:t>
            </a:r>
            <a:r>
              <a:rPr b="1" lang="ru" sz="1900">
                <a:solidFill>
                  <a:srgbClr val="000000"/>
                </a:solidFill>
              </a:rPr>
              <a:t>S_l</a:t>
            </a:r>
            <a:r>
              <a:rPr lang="ru" sz="1900">
                <a:solidFill>
                  <a:srgbClr val="000000"/>
                </a:solidFill>
              </a:rPr>
              <a:t> — красный, </a:t>
            </a:r>
            <a:r>
              <a:rPr b="1" lang="ru" sz="1900">
                <a:solidFill>
                  <a:srgbClr val="000000"/>
                </a:solidFill>
              </a:rPr>
              <a:t>S_r</a:t>
            </a:r>
            <a:r>
              <a:rPr lang="ru" sz="1900">
                <a:solidFill>
                  <a:srgbClr val="000000"/>
                </a:solidFill>
              </a:rPr>
              <a:t> — чёрный, и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является левым потомков своего отца. В этом случае мы вращаем дерево вправо вокруг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. Таким образом </a:t>
            </a:r>
            <a:r>
              <a:rPr b="1" lang="ru" sz="1900">
                <a:solidFill>
                  <a:srgbClr val="000000"/>
                </a:solidFill>
              </a:rPr>
              <a:t>S_l</a:t>
            </a:r>
            <a:r>
              <a:rPr lang="ru" sz="1900">
                <a:solidFill>
                  <a:srgbClr val="000000"/>
                </a:solidFill>
              </a:rPr>
              <a:t> становится его отцом и новым братом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. После этого мы меняем цвета у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и </a:t>
            </a:r>
            <a:r>
              <a:rPr b="1" lang="ru" sz="1900">
                <a:solidFill>
                  <a:srgbClr val="000000"/>
                </a:solidFill>
              </a:rPr>
              <a:t>S_l</a:t>
            </a:r>
            <a:r>
              <a:rPr lang="ru" sz="1900">
                <a:solidFill>
                  <a:srgbClr val="000000"/>
                </a:solidFill>
              </a:rPr>
              <a:t>. Теперь у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есть чёрный брат с красным правым потомком, и мы свели к случаю 4.6.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32" name="Google Shape;232;p34" title="2025_09_30_0pf_Kleki.png"/>
          <p:cNvPicPr preferRelativeResize="0"/>
          <p:nvPr/>
        </p:nvPicPr>
        <p:blipFill rotWithShape="1">
          <a:blip r:embed="rId3">
            <a:alphaModFix/>
          </a:blip>
          <a:srcRect b="219" l="0" r="0" t="209"/>
          <a:stretch/>
        </p:blipFill>
        <p:spPr>
          <a:xfrm>
            <a:off x="2439000" y="2735405"/>
            <a:ext cx="4455451" cy="1791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311700" y="233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311700" y="6933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Случай 4.6: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— чёрный, </a:t>
            </a:r>
            <a:r>
              <a:rPr b="1" lang="ru" sz="1900">
                <a:solidFill>
                  <a:srgbClr val="000000"/>
                </a:solidFill>
              </a:rPr>
              <a:t>S_l</a:t>
            </a:r>
            <a:r>
              <a:rPr lang="ru" sz="1900">
                <a:solidFill>
                  <a:srgbClr val="000000"/>
                </a:solidFill>
              </a:rPr>
              <a:t> — чёрный, </a:t>
            </a:r>
            <a:r>
              <a:rPr b="1" lang="ru" sz="1900">
                <a:solidFill>
                  <a:srgbClr val="000000"/>
                </a:solidFill>
              </a:rPr>
              <a:t>S_r</a:t>
            </a:r>
            <a:r>
              <a:rPr lang="ru" sz="1900">
                <a:solidFill>
                  <a:srgbClr val="000000"/>
                </a:solidFill>
              </a:rPr>
              <a:t> — красный, и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является левым потомков своего отца. В этом случае мы вращаем дерево влево вокруг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, после чего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становится отцом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и своего правого потомка. Далее мы меняем местами цвета у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и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(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 принимает цвет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,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принимает цвет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), и делаем правого потомка </a:t>
            </a:r>
            <a:r>
              <a:rPr b="1" lang="ru" sz="1900">
                <a:solidFill>
                  <a:srgbClr val="000000"/>
                </a:solidFill>
              </a:rPr>
              <a:t>S</a:t>
            </a:r>
            <a:r>
              <a:rPr lang="ru" sz="1900">
                <a:solidFill>
                  <a:srgbClr val="000000"/>
                </a:solidFill>
              </a:rPr>
              <a:t> чёрным.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39" name="Google Shape;23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825" y="2862500"/>
            <a:ext cx="4686301" cy="16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➢"/>
            </a:pPr>
            <a:r>
              <a:rPr b="1" i="1" lang="ru" sz="1900">
                <a:solidFill>
                  <a:srgbClr val="000000"/>
                </a:solidFill>
              </a:rPr>
              <a:t>Примечание: </a:t>
            </a:r>
            <a:r>
              <a:rPr lang="ru" sz="1900">
                <a:solidFill>
                  <a:srgbClr val="000000"/>
                </a:solidFill>
              </a:rPr>
              <a:t>В случаях 4.2, 4.5, и 4.6 мы предполагаем, что </a:t>
            </a:r>
            <a:r>
              <a:rPr b="1" lang="ru" sz="1900">
                <a:solidFill>
                  <a:srgbClr val="000000"/>
                </a:solidFill>
              </a:rPr>
              <a:t>N</a:t>
            </a:r>
            <a:r>
              <a:rPr lang="ru" sz="1900">
                <a:solidFill>
                  <a:srgbClr val="000000"/>
                </a:solidFill>
              </a:rPr>
              <a:t> является </a:t>
            </a:r>
            <a:r>
              <a:rPr b="1" i="1" lang="ru" sz="1900">
                <a:solidFill>
                  <a:srgbClr val="000000"/>
                </a:solidFill>
              </a:rPr>
              <a:t>левым потомком</a:t>
            </a:r>
            <a:r>
              <a:rPr lang="ru" sz="1900">
                <a:solidFill>
                  <a:srgbClr val="000000"/>
                </a:solidFill>
              </a:rPr>
              <a:t> своего предка </a:t>
            </a:r>
            <a:r>
              <a:rPr b="1" lang="ru" sz="1900">
                <a:solidFill>
                  <a:srgbClr val="000000"/>
                </a:solidFill>
              </a:rPr>
              <a:t>P</a:t>
            </a:r>
            <a:r>
              <a:rPr lang="ru" sz="1900">
                <a:solidFill>
                  <a:srgbClr val="000000"/>
                </a:solidFill>
              </a:rPr>
              <a:t>. Если он — правый потомок, left и right нужно поменять местами во всех трех случаях.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47" name="Google Shape;24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Источники и полезные ссылки</a:t>
            </a:r>
            <a:endParaRPr/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Алгоритмы. Построение и анализ - Т.Кормен, Ч.Лейзерсон, Р. Ривест, К.Штайн.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Хорошее описание операций: </a:t>
            </a:r>
            <a:r>
              <a:rPr lang="ru" sz="1900" u="sng">
                <a:solidFill>
                  <a:schemeClr val="hlink"/>
                </a:solidFill>
                <a:hlinkClick r:id="rId3"/>
              </a:rPr>
              <a:t>https://ru.wikipedia.org/wiki/Красно-чёрное_дерево#Вставка</a:t>
            </a:r>
            <a:r>
              <a:rPr lang="ru" sz="1900">
                <a:solidFill>
                  <a:srgbClr val="000000"/>
                </a:solidFill>
              </a:rPr>
              <a:t>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Альтернативное объяснение удаления вершины: </a:t>
            </a:r>
            <a:r>
              <a:rPr lang="ru" sz="1900" u="sng">
                <a:solidFill>
                  <a:schemeClr val="hlink"/>
                </a:solidFill>
                <a:hlinkClick r:id="rId4"/>
              </a:rPr>
              <a:t>https://habr.com/ru/articles/573502/</a:t>
            </a:r>
            <a:r>
              <a:rPr lang="ru" sz="1900">
                <a:solidFill>
                  <a:srgbClr val="000000"/>
                </a:solidFill>
              </a:rPr>
              <a:t>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4" name="Google Shape;25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260" name="Google Shape;26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61" name="Google Shape;261;p38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