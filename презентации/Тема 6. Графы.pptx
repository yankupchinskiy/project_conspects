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  <p:embeddedFont>
      <p:font typeface="PT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33" Type="http://schemas.openxmlformats.org/officeDocument/2006/relationships/font" Target="fonts/PTSans-italic.fntdata"/><Relationship Id="rId10" Type="http://schemas.openxmlformats.org/officeDocument/2006/relationships/slide" Target="slides/slide5.xml"/><Relationship Id="rId32" Type="http://schemas.openxmlformats.org/officeDocument/2006/relationships/font" Target="fonts/PT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T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4a7a6f56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84a7a6f56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4a7a6f56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4a7a6f5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4a7a6f56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84a7a6f5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4a7a6f56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84a7a6f56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4a7a6f56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4a7a6f56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4a7a6f56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84a7a6f56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4a7a6f56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4a7a6f56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4a7a6f56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84a7a6f56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Графы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Что такое граф?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Граф - математическая абстракция любой реальной системы, объекты которой обладают парными связями.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Граф состоит из вершин(самих объектов) и рёбер(парных связей).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Классификация графов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Ненаправленный - граф, в котором ребра не имеют определенного направления, т.е. по всем ребрам можно передвигаться в обе стороны.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Ориентированный - граф, в котором ребра имеют направление от одной вершины к другой, т.е. по ребрам можно передвигаться только в определенном направлении.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Связный - граф, в котором из любой вершины есть путь в любую другую вершину.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Классификация графов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Несвязный - граф, в котором существует хотя бы одна вершина, из которой нельзя добраться до хотя бы одной другой вершины.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Ацикличный - граф, в котором нет циклов.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Полный - граф, в котором любые две различные вершины соединены ребром.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Взвешенный - граф, в котором каждое ребро имеет вес.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Сопутствующие определения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Вершина - один из основных элементов графа, представляющий отдельный объект.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Ребро - связь между двумя вершинами графа.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Элементами</a:t>
            </a:r>
            <a:r>
              <a:rPr lang="ru" sz="1900">
                <a:solidFill>
                  <a:srgbClr val="000000"/>
                </a:solidFill>
              </a:rPr>
              <a:t> графа называются его вершины.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Соседние вершины - вершины, между которыми есть прямая связь(ребро).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Изолированная вершина - вершина, которая не соединена ни с одной другой вершиной.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Сопутствующие определения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Маршрут - конечная последовательность вершин, в которой каждая вершина (кроме последней) соединена со следующей в последовательности вершиной ребром.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Цепь - маршрут без повторяющихся ребер.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Простая цепь - маршрут без повторяющихся вершин.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Цикл - цепь, в которой первая и последняя вершины совпадают.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Компьютерное представление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Для работы с графом в программе удобно представлять его в виде матрицы смежности. Матрица смежности - таблица, где как столбцы, так и строки соответствуют вершинам графа. В каждой ячейке этой матрицы записывается число, определяющее наличие связи(или длину пути) от вершины-строки к вершине-столбцу.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13524" l="0" r="0" t="0"/>
          <a:stretch/>
        </p:blipFill>
        <p:spPr>
          <a:xfrm>
            <a:off x="4161050" y="2808725"/>
            <a:ext cx="4150475" cy="15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Простейшие примеры графов в реальной жизни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Схема метро - вершины это станции метро, а ребра сами пути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Карта дорог города - вершины это перекрестки, а ребра сами дороги. Важно учитывать, что на части дорог разрешено только одностороннее движение, из-за чего граф становится ориентированным.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Обходы графов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Обход графа - просмотр всех вершин графа в определенном порядке. Существует два вида обхода графа: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Обход в глубину - рекурсивный алгоритм.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Обход в ширину - использует очередь для определения порядка просмотра вершин.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глубину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Общая идея обхода состоит в том, чтобы найти для текущей вершины все непосещенные соседние вершины и повторить поиск для них: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Выбираем любую непосещенную вершину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Запускаем алгоритм для выбранной вершины:</a:t>
            </a:r>
            <a:endParaRPr sz="1900">
              <a:solidFill>
                <a:srgbClr val="000000"/>
              </a:solidFill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■"/>
            </a:pPr>
            <a:r>
              <a:rPr lang="ru" sz="1900">
                <a:solidFill>
                  <a:srgbClr val="000000"/>
                </a:solidFill>
              </a:rPr>
              <a:t>Помечаем вершину как посещенную.</a:t>
            </a:r>
            <a:endParaRPr sz="1900">
              <a:solidFill>
                <a:srgbClr val="000000"/>
              </a:solidFill>
            </a:endParaRPr>
          </a:p>
          <a:p>
            <a:pPr indent="-3492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■"/>
            </a:pPr>
            <a:r>
              <a:rPr lang="ru" sz="1900">
                <a:solidFill>
                  <a:srgbClr val="000000"/>
                </a:solidFill>
              </a:rPr>
              <a:t>Для каждой соседней непосещенной вершины запускаем алгоритм.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Повторяем шаги 1 и 2, пока все вершины не будут просмотрены.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глубину</a:t>
            </a:r>
            <a:endParaRPr/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1017713"/>
            <a:ext cx="563880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414550" y="182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ширину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754825"/>
            <a:ext cx="8520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➢"/>
            </a:pPr>
            <a:r>
              <a:rPr lang="ru" sz="1500">
                <a:solidFill>
                  <a:srgbClr val="000000"/>
                </a:solidFill>
              </a:rPr>
              <a:t>Общая идея обхода заключается в последовательном просмотре отдельных уровней графа, начиная со стартовой вершины графа</a:t>
            </a:r>
            <a:r>
              <a:rPr lang="ru" sz="1500">
                <a:solidFill>
                  <a:srgbClr val="000000"/>
                </a:solidFill>
              </a:rPr>
              <a:t>: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ru" sz="1500">
                <a:solidFill>
                  <a:srgbClr val="000000"/>
                </a:solidFill>
              </a:rPr>
              <a:t>Устанавливаем для всех вершин уровень равный -1.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ru" sz="1500">
                <a:solidFill>
                  <a:srgbClr val="000000"/>
                </a:solidFill>
              </a:rPr>
              <a:t>Устанавливаем для стартовой вершины уровень 0.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ru" sz="1500">
                <a:solidFill>
                  <a:srgbClr val="000000"/>
                </a:solidFill>
              </a:rPr>
              <a:t>Добавляем в пустую очередь стартовую вершину.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ru" sz="1500">
                <a:solidFill>
                  <a:srgbClr val="000000"/>
                </a:solidFill>
              </a:rPr>
              <a:t>Достаем из очереди </a:t>
            </a:r>
            <a:r>
              <a:rPr lang="ru" sz="1500">
                <a:solidFill>
                  <a:srgbClr val="000000"/>
                </a:solidFill>
              </a:rPr>
              <a:t>текущую</a:t>
            </a:r>
            <a:r>
              <a:rPr lang="ru" sz="1500">
                <a:solidFill>
                  <a:srgbClr val="000000"/>
                </a:solidFill>
              </a:rPr>
              <a:t> вершину.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ru" sz="1500">
                <a:solidFill>
                  <a:srgbClr val="000000"/>
                </a:solidFill>
              </a:rPr>
              <a:t>Находим все соседние вершины для текущей вершины.</a:t>
            </a:r>
            <a:endParaRPr sz="1500"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ru" sz="1500">
                <a:solidFill>
                  <a:srgbClr val="000000"/>
                </a:solidFill>
              </a:rPr>
              <a:t>Если вершина не посещена(т.е. уровень равен -1):</a:t>
            </a:r>
            <a:endParaRPr sz="1500">
              <a:solidFill>
                <a:srgbClr val="000000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■"/>
            </a:pPr>
            <a:r>
              <a:rPr lang="ru" sz="1500">
                <a:solidFill>
                  <a:srgbClr val="000000"/>
                </a:solidFill>
              </a:rPr>
              <a:t>Устанавливаем уровень вершины равный уровню текущей вершины + 1 и добавляем вершину в очередь.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ru" sz="1500">
                <a:solidFill>
                  <a:srgbClr val="000000"/>
                </a:solidFill>
              </a:rPr>
              <a:t>Возвращаемся к шагу 4, пока очередь не опустеет.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Обход в глубину</a:t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115" y="1042625"/>
            <a:ext cx="5921775" cy="30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Алгоритм Дейкстры — это классический алгоритм поиска пути. Этот алгоритм используется для поиска кратчайшего пути в взвешенном графе от одной вершины (обозначим ее как начальную) до всех остальных вершин.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Алгоритм применяется к взвешенному графу, ребра которого не имеют отрицательного веса.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Дейкстры. Принцип работы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Заводим массив, в котором будем хранить кратчайшее расстояние от начальной вершины до всех вершин. Заполняем массив значениями (inf), а для стартовой точки устанавливаем значение 0. Посещая непосещенные вершины, обновляем значения массива, находя более оптимальные пути к вершинам и уменьшая расстояние до них.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Дейкстры. Пошаговое представление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Инициализируем массив расстояний.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Помечаем все вершины графа как непосещенные.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Повторяем, пока все вершины не будут посещены: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Выбираем из списка непосещенных вершин вершину с наименьшим расстоянием до нее.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Рассчитываем и при необходимости обновляем расстояние для каждого непосещенного соседа текущей вершины.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Отмечаем текущую вершину как посещенную.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</a:t>
            </a:r>
            <a:endParaRPr/>
          </a:p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032" y="1017724"/>
            <a:ext cx="4791931" cy="353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Дейкстры. Сложность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27000" y="1396300"/>
            <a:ext cx="84900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Сложность алгоритма Дейкстры зависит от способа выбора текущей вершины, а также способа хранения множества непосещённых вершин и способа обновления меток. Обозначим через n количество вершин, а через m — количество рёбер в графе.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Дейкстры. Сложность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27000" y="960575"/>
            <a:ext cx="8490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800">
                <a:solidFill>
                  <a:srgbClr val="000000"/>
                </a:solidFill>
              </a:rPr>
              <a:t>В простейшем случае, когда для поиска вершины с минимальным путем до нее просматривается всё множество вершин, а для хранения величин путей используется массив, время работы алгоритма есть O(n</a:t>
            </a:r>
            <a:r>
              <a:rPr baseline="30000" lang="ru" sz="1800">
                <a:solidFill>
                  <a:srgbClr val="000000"/>
                </a:solidFill>
              </a:rPr>
              <a:t>2</a:t>
            </a:r>
            <a:r>
              <a:rPr lang="ru" sz="1800">
                <a:solidFill>
                  <a:srgbClr val="000000"/>
                </a:solidFill>
              </a:rPr>
              <a:t>). Основной цикл выполняется порядка n раз, в каждом из них на нахождение минимума тратится порядка n операций. На циклы по соседям каждой посещаемой вершины тратится количество операций, пропорциональное количеству рёбер m (поскольку каждое ребро встречается в этих циклах ровно дважды и требует константное число операций). Таким образом, общее время работы алгоритма O</a:t>
            </a:r>
            <a:r>
              <a:rPr lang="ru" sz="1800">
                <a:solidFill>
                  <a:srgbClr val="000000"/>
                </a:solidFill>
              </a:rPr>
              <a:t>(</a:t>
            </a:r>
            <a:r>
              <a:rPr lang="ru" sz="1800">
                <a:solidFill>
                  <a:srgbClr val="000000"/>
                </a:solidFill>
              </a:rPr>
              <a:t>n</a:t>
            </a:r>
            <a:r>
              <a:rPr baseline="30000" lang="ru" sz="1800">
                <a:solidFill>
                  <a:srgbClr val="000000"/>
                </a:solidFill>
              </a:rPr>
              <a:t>2</a:t>
            </a:r>
            <a:r>
              <a:rPr lang="ru" sz="1800">
                <a:solidFill>
                  <a:srgbClr val="000000"/>
                </a:solidFill>
              </a:rPr>
              <a:t>+m), но, так как m≤n(n−1), оно составляет O(n</a:t>
            </a:r>
            <a:r>
              <a:rPr baseline="30000" lang="ru" sz="1800">
                <a:solidFill>
                  <a:srgbClr val="000000"/>
                </a:solidFill>
              </a:rPr>
              <a:t>2</a:t>
            </a:r>
            <a:r>
              <a:rPr lang="ru" sz="1800">
                <a:solidFill>
                  <a:srgbClr val="000000"/>
                </a:solidFill>
              </a:rPr>
              <a:t>).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Алгоритм Дейкстры. Сложность</a:t>
            </a:r>
            <a:endParaRPr/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327000" y="960575"/>
            <a:ext cx="84900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Также </a:t>
            </a:r>
            <a:r>
              <a:rPr lang="ru" sz="1900">
                <a:solidFill>
                  <a:srgbClr val="000000"/>
                </a:solidFill>
              </a:rPr>
              <a:t>непосещенные</a:t>
            </a:r>
            <a:r>
              <a:rPr lang="ru" sz="1900">
                <a:solidFill>
                  <a:srgbClr val="000000"/>
                </a:solidFill>
              </a:rPr>
              <a:t> вершины можно хранить в двоичной куче, а в качестве ключа использовать расстояние до вершины, тогда время удаления вершины из списка посещенных вершин станет O(log(n)) при том, что время модификации значений расстояния </a:t>
            </a:r>
            <a:r>
              <a:rPr lang="ru" sz="1900">
                <a:solidFill>
                  <a:srgbClr val="000000"/>
                </a:solidFill>
              </a:rPr>
              <a:t>возрастает</a:t>
            </a:r>
            <a:r>
              <a:rPr lang="ru" sz="1900">
                <a:solidFill>
                  <a:srgbClr val="000000"/>
                </a:solidFill>
              </a:rPr>
              <a:t> до O(log(n)). Так как цикл выполняется порядка n раз, а количество смен меток не больше m, время работы такой реализации — O(nlog(n) +mlog(n)).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236" name="Google Shape;23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7" name="Google Shape;237;p36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