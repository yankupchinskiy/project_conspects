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Proxima Nova"/>
      <p:regular r:id="rId27"/>
      <p:bold r:id="rId28"/>
      <p:italic r:id="rId29"/>
      <p:boldItalic r:id="rId30"/>
    </p:embeddedFont>
    <p:embeddedFont>
      <p:font typeface="PT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roximaNova-bold.fntdata"/><Relationship Id="rId27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TSans-regular.fntdata"/><Relationship Id="rId30" Type="http://schemas.openxmlformats.org/officeDocument/2006/relationships/font" Target="fonts/ProximaNova-boldItalic.fntdata"/><Relationship Id="rId11" Type="http://schemas.openxmlformats.org/officeDocument/2006/relationships/slide" Target="slides/slide6.xml"/><Relationship Id="rId33" Type="http://schemas.openxmlformats.org/officeDocument/2006/relationships/font" Target="fonts/PTSans-italic.fntdata"/><Relationship Id="rId10" Type="http://schemas.openxmlformats.org/officeDocument/2006/relationships/slide" Target="slides/slide5.xml"/><Relationship Id="rId32" Type="http://schemas.openxmlformats.org/officeDocument/2006/relationships/font" Target="fonts/PT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PT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4pPr>
            <a:lvl5pPr indent="-3619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Лэти тема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54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3600"/>
              <a:buFont typeface="PT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29841" y="2589257"/>
            <a:ext cx="78855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идео + заголовок и объект">
  <p:cSld name="Видео + 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/>
        </p:nvSpPr>
        <p:spPr>
          <a:xfrm>
            <a:off x="251952" y="2099245"/>
            <a:ext cx="2497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НЕ ИСПОЛЬЗОВАТЬ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923927" y="4788678"/>
            <a:ext cx="3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2700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923927" y="255824"/>
            <a:ext cx="4779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923927" y="897731"/>
            <a:ext cx="4779600" cy="3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440531" y="897564"/>
            <a:ext cx="4023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680012" y="897564"/>
            <a:ext cx="40170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заголовка и объекта">
  <p:cSld name="Два заголовка и объекта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40531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4053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3" type="body"/>
          </p:nvPr>
        </p:nvSpPr>
        <p:spPr>
          <a:xfrm>
            <a:off x="4680012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10"/>
          <p:cNvSpPr txBox="1"/>
          <p:nvPr>
            <p:ph idx="4" type="body"/>
          </p:nvPr>
        </p:nvSpPr>
        <p:spPr>
          <a:xfrm>
            <a:off x="468001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5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/>
          <p:nvPr>
            <p:ph idx="2" type="pic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Font typeface="P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3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2400"/>
              <a:buFont typeface="PT Sans"/>
              <a:buNone/>
              <a:defRPr b="1" i="0" sz="24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55825"/>
            <a:ext cx="393602" cy="39360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743">
          <p15:clr>
            <a:srgbClr val="F26B43"/>
          </p15:clr>
        </p15:guide>
        <p15:guide id="2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lg@moevm.inf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mailto:alg@moevm.info" TargetMode="External"/><Relationship Id="rId4" Type="http://schemas.openxmlformats.org/officeDocument/2006/relationships/hyperlink" Target="mailto:dmitry.ivanov@moevm.info" TargetMode="External"/><Relationship Id="rId5" Type="http://schemas.openxmlformats.org/officeDocument/2006/relationships/hyperlink" Target="mailto:ivan.shalaginov@moevm.inf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ru"/>
              <a:t>Деревья</a:t>
            </a:r>
            <a:endParaRPr/>
          </a:p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165075" y="3097350"/>
            <a:ext cx="8835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Для вопросов по курсу: 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➢"/>
            </a:pPr>
            <a:r>
              <a:rPr lang="ru" sz="2200"/>
              <a:t>Почта дисциплины - </a:t>
            </a:r>
            <a:r>
              <a:rPr lang="ru" sz="2200" u="sng">
                <a:solidFill>
                  <a:schemeClr val="hlink"/>
                </a:solidFill>
                <a:hlinkClick r:id="rId3"/>
              </a:rPr>
              <a:t>alg@moevm.info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Префикс в теме письма [ALG_43XX]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84675" y="94400"/>
            <a:ext cx="85206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ru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СПбГЭТУ “ЛЭТИ”, ФКТИ, МОЭВМ</a:t>
            </a:r>
            <a:endParaRPr b="0" i="1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Деревья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Определение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Дерево - это связный граф без циклов.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Свойства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вершин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n-1 ребер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путь для 2-х любых вершин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9083" y="940212"/>
            <a:ext cx="3532064" cy="32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Деревья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Корневое дерево - дерево с отмеченной вершиной - корнем.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2 - корень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1, 3, 7 - дети 2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3 - родитель 4, 5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6, 5, 4, 7 - листы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578650"/>
            <a:ext cx="3940103" cy="284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Деревья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1076275"/>
            <a:ext cx="63483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Высота дерева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длина самого дальнего пути от корня к листу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n-й уровень в дереве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множество узлов, находящихся в дереве на высоте n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Рекуррентное определение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дерево - это корень и несколько деревьев, которые являются детьми этого корня.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Примечание: дерево может быть пустым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6475" y="942600"/>
            <a:ext cx="2777526" cy="27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Использование деревьев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076275"/>
            <a:ext cx="600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Искусственный интеллект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Операционные системы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Сложные алгоритмы (в том числе некоторые сортировки) и способы хранения данных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2750" y="588899"/>
            <a:ext cx="3171250" cy="228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8663" y="2947263"/>
            <a:ext cx="2333625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287" y="2947275"/>
            <a:ext cx="2520613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7500" y="3034638"/>
            <a:ext cx="2520625" cy="1957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Способы представления деревьев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076275"/>
            <a:ext cx="600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Массив родителей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 ячейку с текущим номером записывается родителей соответствующей вершины, причем для корневой вершины записывается сам корень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0126" y="1017725"/>
            <a:ext cx="1969001" cy="340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Способы представления деревьев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1700" y="1076275"/>
            <a:ext cx="41232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Списки детей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 элемент массива записывается массив детей текущего узла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1875" y="1148488"/>
            <a:ext cx="6328252" cy="284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Способы представления деревьев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311700" y="1076275"/>
            <a:ext cx="8520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Связный список с ссылками на детей и родителя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9313" y="1617575"/>
            <a:ext cx="6285369" cy="284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Бинарное дерево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11700" y="10762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Бинарное дерево - дерево, каждый узел которого имеет максимум 2 потомка.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63" name="Google Shape;1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838" y="1946600"/>
            <a:ext cx="6324318" cy="240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Обход дерева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Обходы в глубину (Depth-first traversal)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Центрированный обход (In-order traversal)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Прямой обход (Pre-order traversal)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Обратный обход (Post-order traversal)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Поиск в ширину (Breadth-first search)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 rotWithShape="1">
          <a:blip r:embed="rId3">
            <a:alphaModFix/>
          </a:blip>
          <a:srcRect b="0" l="4665" r="3294" t="0"/>
          <a:stretch/>
        </p:blipFill>
        <p:spPr>
          <a:xfrm>
            <a:off x="5207325" y="1017725"/>
            <a:ext cx="3895775" cy="25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Обход в глубину (Центрированный)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Сначала посещается левое поддерево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Затем корень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 конце правое поддерево</a:t>
            </a:r>
            <a:endParaRPr sz="1900">
              <a:solidFill>
                <a:srgbClr val="000000"/>
              </a:solidFill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Порядок посещения на примере: ABCDEFGHI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79" name="Google Shape;179;p26"/>
          <p:cNvPicPr preferRelativeResize="0"/>
          <p:nvPr/>
        </p:nvPicPr>
        <p:blipFill rotWithShape="1">
          <a:blip r:embed="rId3">
            <a:alphaModFix/>
          </a:blip>
          <a:srcRect b="50839" l="47384" r="23273" t="9954"/>
          <a:stretch/>
        </p:blipFill>
        <p:spPr>
          <a:xfrm>
            <a:off x="5740100" y="667700"/>
            <a:ext cx="3184350" cy="380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Обход в глубину (Прямой)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Сначала посещается корень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Затем левое поддерево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 конце правое поддерево</a:t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Порядок посещения на примере: FBADCEGIH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6" name="Google Shape;18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87" name="Google Shape;187;p27"/>
          <p:cNvPicPr preferRelativeResize="0"/>
          <p:nvPr/>
        </p:nvPicPr>
        <p:blipFill rotWithShape="1">
          <a:blip r:embed="rId3">
            <a:alphaModFix/>
          </a:blip>
          <a:srcRect b="52269" l="17969" r="53293" t="10554"/>
          <a:stretch/>
        </p:blipFill>
        <p:spPr>
          <a:xfrm>
            <a:off x="6055141" y="1017726"/>
            <a:ext cx="3088860" cy="35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Обход в глубину (Обратный)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Сначала посещается левое поддерево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Затем правое поддерево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 конце - корень</a:t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Порядок посещения на примере: ACEDBHIGF</a:t>
            </a:r>
            <a:endParaRPr/>
          </a:p>
        </p:txBody>
      </p:sp>
      <p:sp>
        <p:nvSpPr>
          <p:cNvPr id="194" name="Google Shape;19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95" name="Google Shape;195;p28"/>
          <p:cNvPicPr preferRelativeResize="0"/>
          <p:nvPr/>
        </p:nvPicPr>
        <p:blipFill rotWithShape="1">
          <a:blip r:embed="rId3">
            <a:alphaModFix/>
          </a:blip>
          <a:srcRect b="7655" l="16157" r="54804" t="55166"/>
          <a:stretch/>
        </p:blipFill>
        <p:spPr>
          <a:xfrm>
            <a:off x="6001550" y="942599"/>
            <a:ext cx="3142450" cy="3600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Обход в ширину</a:t>
            </a:r>
            <a:endParaRPr/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311700" y="1152475"/>
            <a:ext cx="5687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Используется очередь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В очередь добавляется корень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Корень берется из очереди и обрабатывается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В очередь добавляются все дети корня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Пункты 3 и 4 повторяются, пока очередь не станет пустой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Порядок посещения на примере: FBGADICEH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2" name="Google Shape;20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03" name="Google Shape;203;p29"/>
          <p:cNvPicPr preferRelativeResize="0"/>
          <p:nvPr/>
        </p:nvPicPr>
        <p:blipFill rotWithShape="1">
          <a:blip r:embed="rId3">
            <a:alphaModFix/>
          </a:blip>
          <a:srcRect b="9337" l="50114" r="17603" t="57194"/>
          <a:stretch/>
        </p:blipFill>
        <p:spPr>
          <a:xfrm>
            <a:off x="6103700" y="1152475"/>
            <a:ext cx="3144600" cy="2917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Бинарное дерево поиска</a:t>
            </a:r>
            <a:endParaRPr/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311700" y="1017725"/>
            <a:ext cx="5802300" cy="3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ru" sz="1800">
                <a:solidFill>
                  <a:srgbClr val="000000"/>
                </a:solidFill>
              </a:rPr>
              <a:t>Бинарное дерево, для которого выполняются следующие условия:</a:t>
            </a:r>
            <a:endParaRPr sz="1800">
              <a:solidFill>
                <a:srgbClr val="000000"/>
              </a:solidFill>
            </a:endParaRPr>
          </a:p>
          <a:p>
            <a:pPr indent="-323850" lvl="0" marL="45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ru" sz="1500">
                <a:solidFill>
                  <a:srgbClr val="000000"/>
                </a:solidFill>
              </a:rPr>
              <a:t>оба поддерева — левое и правое — являются бинарными деревьями поиска;</a:t>
            </a:r>
            <a:endParaRPr sz="1500">
              <a:solidFill>
                <a:srgbClr val="000000"/>
              </a:solidFill>
            </a:endParaRPr>
          </a:p>
          <a:p>
            <a:pPr indent="-323850" lvl="0" marL="45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ru" sz="1500">
                <a:solidFill>
                  <a:srgbClr val="000000"/>
                </a:solidFill>
              </a:rPr>
              <a:t>у всех узлов левого поддерева произвольного узла X значения ключей данных меньше, нежели значение ключа данных самого узла X;</a:t>
            </a:r>
            <a:endParaRPr sz="1500">
              <a:solidFill>
                <a:srgbClr val="000000"/>
              </a:solidFill>
            </a:endParaRPr>
          </a:p>
          <a:p>
            <a:pPr indent="-323850" lvl="0" marL="45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ru" sz="1500">
                <a:solidFill>
                  <a:srgbClr val="000000"/>
                </a:solidFill>
              </a:rPr>
              <a:t>у всех узлов правого поддерева произвольного узла X значения ключей данных больше либо равны, нежели значение ключа данных самого узла X.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210" name="Google Shape;21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11" name="Google Shape;2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8600" y="1752500"/>
            <a:ext cx="3445399" cy="284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Основные операции</a:t>
            </a:r>
            <a:endParaRPr/>
          </a:p>
        </p:txBody>
      </p:sp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311700" y="1069150"/>
            <a:ext cx="47853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Поиск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Рекурсивный обход по дереву, сравнивая значение элемента с текущим, чтобы определить, в какую сторону дальше продвинуться.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18" name="Google Shape;21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19" name="Google Shape;2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8000" y="1809750"/>
            <a:ext cx="39243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Основные операции</a:t>
            </a:r>
            <a:endParaRPr/>
          </a:p>
        </p:txBody>
      </p:sp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11700" y="1069150"/>
            <a:ext cx="85206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Вставка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Сначала производится поиск места, в которое данный узел будет корректно поместить, а затем уже создается новый узел.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26" name="Google Shape;22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27" name="Google Shape;2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588" y="2571750"/>
            <a:ext cx="8505825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Основные операции</a:t>
            </a:r>
            <a:endParaRPr/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311700" y="1069150"/>
            <a:ext cx="39219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Удаление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При удалении стоит обратить внимание на 3 допустимые ситуации: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-"/>
            </a:pPr>
            <a:r>
              <a:rPr lang="ru" sz="1900">
                <a:solidFill>
                  <a:srgbClr val="000000"/>
                </a:solidFill>
              </a:rPr>
              <a:t>удаление листа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-"/>
            </a:pPr>
            <a:r>
              <a:rPr lang="ru" sz="1900">
                <a:solidFill>
                  <a:srgbClr val="000000"/>
                </a:solidFill>
              </a:rPr>
              <a:t>удаление узла с 1 ребенком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-"/>
            </a:pPr>
            <a:r>
              <a:rPr lang="ru" sz="1900">
                <a:solidFill>
                  <a:srgbClr val="000000"/>
                </a:solidFill>
              </a:rPr>
              <a:t>удаление узла с 2 детьми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34" name="Google Shape;2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35" name="Google Shape;2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00" y="787975"/>
            <a:ext cx="4910399" cy="373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Основные операции</a:t>
            </a:r>
            <a:endParaRPr/>
          </a:p>
        </p:txBody>
      </p:sp>
      <p:sp>
        <p:nvSpPr>
          <p:cNvPr id="241" name="Google Shape;241;p34"/>
          <p:cNvSpPr txBox="1"/>
          <p:nvPr>
            <p:ph idx="1" type="body"/>
          </p:nvPr>
        </p:nvSpPr>
        <p:spPr>
          <a:xfrm>
            <a:off x="311700" y="1069150"/>
            <a:ext cx="84483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Удаление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42" name="Google Shape;24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43" name="Google Shape;2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075" y="1416225"/>
            <a:ext cx="5665540" cy="285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Источники и полезные ссылки</a:t>
            </a:r>
            <a:endParaRPr/>
          </a:p>
        </p:txBody>
      </p:sp>
      <p:sp>
        <p:nvSpPr>
          <p:cNvPr id="249" name="Google Shape;249;p3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rgbClr val="000000"/>
                </a:solidFill>
              </a:rPr>
              <a:t>Бинарные деревья и обходы: https://ru.hexlet.io/courses/algorithms-trees/lessons/binary/theory_unit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0" name="Google Shape;25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Вопросы по курсу можно задавать:</a:t>
            </a:r>
            <a:endParaRPr/>
          </a:p>
        </p:txBody>
      </p:sp>
      <p:sp>
        <p:nvSpPr>
          <p:cNvPr id="256" name="Google Shape;25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57" name="Google Shape;257;p36"/>
          <p:cNvSpPr txBox="1"/>
          <p:nvPr>
            <p:ph type="title"/>
          </p:nvPr>
        </p:nvSpPr>
        <p:spPr>
          <a:xfrm>
            <a:off x="70775" y="3060025"/>
            <a:ext cx="8925000" cy="115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Почта дисциплины - </a:t>
            </a:r>
            <a:r>
              <a:rPr lang="ru" sz="2400" u="sng">
                <a:solidFill>
                  <a:schemeClr val="hlink"/>
                </a:solidFill>
                <a:hlinkClick r:id="rId3"/>
              </a:rPr>
              <a:t>alg@moevm.info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Иванов Дмитрий Владимирович - </a:t>
            </a:r>
            <a:r>
              <a:rPr lang="ru" sz="2400" u="sng">
                <a:solidFill>
                  <a:schemeClr val="hlink"/>
                </a:solidFill>
                <a:hlinkClick r:id="rId4"/>
              </a:rPr>
              <a:t>dmitry.ivanov@moevm.info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Шалагинов Иван Владимирович - </a:t>
            </a:r>
            <a:r>
              <a:rPr lang="ru" sz="2400" u="sng">
                <a:solidFill>
                  <a:schemeClr val="hlink"/>
                </a:solidFill>
                <a:hlinkClick r:id="rId5"/>
              </a:rPr>
              <a:t>ivan.shalaginov@moevm.info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Лэти тема">
  <a:themeElements>
    <a:clrScheme name="corp_colors">
      <a:dk1>
        <a:srgbClr val="05336E"/>
      </a:dk1>
      <a:lt1>
        <a:srgbClr val="FFFFFF"/>
      </a:lt1>
      <a:dk2>
        <a:srgbClr val="05336E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67A7F8"/>
      </a:hlink>
      <a:folHlink>
        <a:srgbClr val="67A7F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