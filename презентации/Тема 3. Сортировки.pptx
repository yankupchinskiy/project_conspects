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Proxima Nova"/>
      <p:regular r:id="rId25"/>
      <p:bold r:id="rId26"/>
      <p:italic r:id="rId27"/>
      <p:boldItalic r:id="rId28"/>
    </p:embeddedFont>
    <p:embeddedFont>
      <p:font typeface="PT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555508-F9FC-4776-86C6-19361DF1C496}">
  <a:tblStyle styleId="{19555508-F9FC-4776-86C6-19361DF1C49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73D3118-3CCA-4372-95B9-3448B177427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roximaNova-bold.fntdata"/><Relationship Id="rId25" Type="http://schemas.openxmlformats.org/officeDocument/2006/relationships/font" Target="fonts/ProximaNova-regular.fntdata"/><Relationship Id="rId28" Type="http://schemas.openxmlformats.org/officeDocument/2006/relationships/font" Target="fonts/ProximaNova-boldItalic.fntdata"/><Relationship Id="rId27" Type="http://schemas.openxmlformats.org/officeDocument/2006/relationships/font" Target="fonts/ProximaNova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T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TSans-italic.fntdata"/><Relationship Id="rId30" Type="http://schemas.openxmlformats.org/officeDocument/2006/relationships/font" Target="fonts/PT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T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fb39b8cb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7fb39b8cb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fb39b8cb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7fb39b8cb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fb39b8cb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7fb39b8cb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fb39b8cb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7fb39b8cb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fb39b8cb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7fb39b8cb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fb39b8cb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7fb39b8cb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fb39b8cb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7fb39b8cb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4pPr>
            <a:lvl5pPr indent="-3619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Лэти тема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54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3600"/>
              <a:buFont typeface="PT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29841" y="2589257"/>
            <a:ext cx="78855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идео + заголовок и объект">
  <p:cSld name="Видео + 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/>
        </p:nvSpPr>
        <p:spPr>
          <a:xfrm>
            <a:off x="251952" y="2099245"/>
            <a:ext cx="2497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НЕ ИСПОЛЬЗОВАТЬ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923927" y="4788678"/>
            <a:ext cx="3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2700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923927" y="255824"/>
            <a:ext cx="4779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3923927" y="897731"/>
            <a:ext cx="4779600" cy="3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7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440531" y="897564"/>
            <a:ext cx="4023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680012" y="897564"/>
            <a:ext cx="40170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заголовка и объекта">
  <p:cSld name="Два заголовка и объекта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40531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4053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3" type="body"/>
          </p:nvPr>
        </p:nvSpPr>
        <p:spPr>
          <a:xfrm>
            <a:off x="4680012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p10"/>
          <p:cNvSpPr txBox="1"/>
          <p:nvPr>
            <p:ph idx="4" type="body"/>
          </p:nvPr>
        </p:nvSpPr>
        <p:spPr>
          <a:xfrm>
            <a:off x="468001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5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/>
          <p:nvPr>
            <p:ph idx="2" type="pic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Font typeface="P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3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5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5.jp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2400"/>
              <a:buFont typeface="PT Sans"/>
              <a:buNone/>
              <a:defRPr b="1" i="0" sz="24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55825"/>
            <a:ext cx="393602" cy="39360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743">
          <p15:clr>
            <a:srgbClr val="F26B43"/>
          </p15:clr>
        </p15:guide>
        <p15:guide id="2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lg@moevm.inf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mailto:alg@moevm.info" TargetMode="External"/><Relationship Id="rId4" Type="http://schemas.openxmlformats.org/officeDocument/2006/relationships/hyperlink" Target="mailto:dmitry.ivanov@moevm.info" TargetMode="External"/><Relationship Id="rId5" Type="http://schemas.openxmlformats.org/officeDocument/2006/relationships/hyperlink" Target="mailto:ivan.shalaginov@moevm.inf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ru"/>
              <a:t>Знакомство с сортировками</a:t>
            </a:r>
            <a:endParaRPr/>
          </a:p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165075" y="3097350"/>
            <a:ext cx="8835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Для вопросов по курсу: 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➢"/>
            </a:pPr>
            <a:r>
              <a:rPr lang="ru" sz="2200"/>
              <a:t>Почта дисциплины - </a:t>
            </a:r>
            <a:r>
              <a:rPr lang="ru" sz="2200" u="sng">
                <a:solidFill>
                  <a:schemeClr val="hlink"/>
                </a:solidFill>
                <a:hlinkClick r:id="rId3"/>
              </a:rPr>
              <a:t>alg@moevm.info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Префикс в теме письма [ALG_43XX]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84675" y="94400"/>
            <a:ext cx="85206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ru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СПбГЭТУ “ЛЭТИ”, ФКТИ, МОЭВМ</a:t>
            </a:r>
            <a:endParaRPr b="0" i="1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Напоминание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076275"/>
            <a:ext cx="85206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Сложность по времени - зависимость числа операций от объема входных данных. Сложность по памяти - зависимость объема необходимой памяти от объема входных данных.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Если алгоритм не затрачивает дополнительную память, то он является in-place, иначе out-of-place (или не in-place).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Устойчивая (стабильная) сортировка — сортировка, которая не меняет относительный порядок сортируемых элементов, имеющих одинаковые ключи, по которым происходит сортировка.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Сортировка подсчетом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11700" y="107627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Основная идея алгоритма: произвести сопоставление: 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число – количество вхождений этого числа;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выписать по возрастанию все вхождения чисел.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graphicFrame>
        <p:nvGraphicFramePr>
          <p:cNvPr id="111" name="Google Shape;111;p18"/>
          <p:cNvGraphicFramePr/>
          <p:nvPr/>
        </p:nvGraphicFramePr>
        <p:xfrm>
          <a:off x="393600" y="248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{19555508-F9FC-4776-86C6-19361DF1C496}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4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Время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Память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Устойчивая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Худший случай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O(n+k)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O(n+k)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Нет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Средний случай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O(n+k)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Лучший случай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O(n+k)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  <a:tc vMerge="1"/>
              </a:tr>
            </a:tbl>
          </a:graphicData>
        </a:graphic>
      </p:graphicFrame>
      <p:sp>
        <p:nvSpPr>
          <p:cNvPr id="112" name="Google Shape;112;p18"/>
          <p:cNvSpPr txBox="1"/>
          <p:nvPr/>
        </p:nvSpPr>
        <p:spPr>
          <a:xfrm>
            <a:off x="311700" y="4173025"/>
            <a:ext cx="75564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 - объем входных данных, k - количество различных элементов</a:t>
            </a:r>
            <a:endParaRPr b="0" i="0" sz="1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Почему такая сложность?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1700" y="1076275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Время: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Необходимо пройтись по всем элементам (n), посчитав их количество (k).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Память: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Необходимо хранить количество всех различных элементов (k).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Необходимо сформировать сортированное множество из n элементов (n).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311700" y="4173025"/>
            <a:ext cx="75564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 - объем входных данных, k - количество различных элементов</a:t>
            </a:r>
            <a:endParaRPr b="0" i="0" sz="1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Сортировка вставками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1076275"/>
            <a:ext cx="85206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1. Массив разбивается на отсортированную и неотсортированную части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2. Берем элемент в неотсортированной части массива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3. Находим место элемента в отсорованной части массива и вставляем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graphicFrame>
        <p:nvGraphicFramePr>
          <p:cNvPr id="128" name="Google Shape;128;p20"/>
          <p:cNvGraphicFramePr/>
          <p:nvPr/>
        </p:nvGraphicFramePr>
        <p:xfrm>
          <a:off x="393600" y="248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{19555508-F9FC-4776-86C6-19361DF1C496}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4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Время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Память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Устойчивая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Худший случай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n^2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in-place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Да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Средний случай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n^2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Лучший случай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  <a:tc vMerge="1"/>
              </a:tr>
            </a:tbl>
          </a:graphicData>
        </a:graphic>
      </p:graphicFrame>
      <p:sp>
        <p:nvSpPr>
          <p:cNvPr id="129" name="Google Shape;129;p20"/>
          <p:cNvSpPr txBox="1"/>
          <p:nvPr/>
        </p:nvSpPr>
        <p:spPr>
          <a:xfrm>
            <a:off x="311700" y="4173025"/>
            <a:ext cx="75564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 - объем входных данных</a:t>
            </a:r>
            <a:endParaRPr b="0" i="0" sz="1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Почему такая сложность?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Время: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 лучшем случае массив отсортирован (n).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 худшем случаем искать место среди k элемента придется среди (k-1) элементов. O(k*(k-1)) == O(k^2) или же O(n^2).</a:t>
            </a:r>
            <a:endParaRPr b="1"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Память: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in-place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311700" y="4173025"/>
            <a:ext cx="75564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 - объем входных данных</a:t>
            </a:r>
            <a:endParaRPr b="0" i="0" sz="1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Сортировка Шелла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017725"/>
            <a:ext cx="85206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Усовершенствованный вариант сортировки вставками, основанный на идее предварительной сортировки элементов, отстоящих друг от друга на некотором расстоянии h</a:t>
            </a:r>
            <a:r>
              <a:rPr baseline="-25000" lang="ru" sz="1900">
                <a:solidFill>
                  <a:srgbClr val="000000"/>
                </a:solidFill>
              </a:rPr>
              <a:t>i</a:t>
            </a:r>
            <a:r>
              <a:rPr lang="ru" sz="1900">
                <a:solidFill>
                  <a:srgbClr val="000000"/>
                </a:solidFill>
              </a:rPr>
              <a:t>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Выбирается последовательность смещений </a:t>
            </a:r>
            <a:r>
              <a:rPr lang="ru" sz="1900">
                <a:solidFill>
                  <a:srgbClr val="000000"/>
                </a:solidFill>
              </a:rPr>
              <a:t>h</a:t>
            </a:r>
            <a:r>
              <a:rPr baseline="-25000" lang="ru" sz="1900">
                <a:solidFill>
                  <a:srgbClr val="000000"/>
                </a:solidFill>
              </a:rPr>
              <a:t>t</a:t>
            </a:r>
            <a:r>
              <a:rPr lang="ru" sz="1900">
                <a:solidFill>
                  <a:srgbClr val="000000"/>
                </a:solidFill>
              </a:rPr>
              <a:t>, h</a:t>
            </a:r>
            <a:r>
              <a:rPr baseline="-25000" lang="ru" sz="1900">
                <a:solidFill>
                  <a:srgbClr val="000000"/>
                </a:solidFill>
              </a:rPr>
              <a:t>t-1</a:t>
            </a:r>
            <a:r>
              <a:rPr lang="ru" sz="1900">
                <a:solidFill>
                  <a:srgbClr val="000000"/>
                </a:solidFill>
              </a:rPr>
              <a:t>,...,h</a:t>
            </a:r>
            <a:r>
              <a:rPr baseline="-25000" lang="ru" sz="1900">
                <a:solidFill>
                  <a:srgbClr val="000000"/>
                </a:solidFill>
              </a:rPr>
              <a:t>0</a:t>
            </a:r>
            <a:r>
              <a:rPr lang="ru" sz="1900">
                <a:solidFill>
                  <a:srgbClr val="000000"/>
                </a:solidFill>
              </a:rPr>
              <a:t>, где h</a:t>
            </a:r>
            <a:r>
              <a:rPr baseline="-25000" lang="ru" sz="1900">
                <a:solidFill>
                  <a:srgbClr val="000000"/>
                </a:solidFill>
              </a:rPr>
              <a:t>0</a:t>
            </a:r>
            <a:r>
              <a:rPr lang="ru" sz="1900">
                <a:solidFill>
                  <a:srgbClr val="000000"/>
                </a:solidFill>
              </a:rPr>
              <a:t>=1.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Разбиваем массив на h</a:t>
            </a:r>
            <a:r>
              <a:rPr baseline="-25000" lang="ru" sz="1900">
                <a:solidFill>
                  <a:srgbClr val="000000"/>
                </a:solidFill>
              </a:rPr>
              <a:t>i</a:t>
            </a:r>
            <a:r>
              <a:rPr lang="ru" sz="1900">
                <a:solidFill>
                  <a:srgbClr val="000000"/>
                </a:solidFill>
              </a:rPr>
              <a:t> подмассивов, состоящих из элементов на расстоянии h</a:t>
            </a:r>
            <a:r>
              <a:rPr baseline="-25000" lang="ru" sz="1900">
                <a:solidFill>
                  <a:srgbClr val="000000"/>
                </a:solidFill>
              </a:rPr>
              <a:t>i</a:t>
            </a:r>
            <a:r>
              <a:rPr lang="ru" sz="1900">
                <a:solidFill>
                  <a:srgbClr val="000000"/>
                </a:solidFill>
              </a:rPr>
              <a:t>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Объединяем подмассивы в массив.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Повторяем до h</a:t>
            </a:r>
            <a:r>
              <a:rPr baseline="-25000" lang="ru" sz="1900">
                <a:solidFill>
                  <a:srgbClr val="000000"/>
                </a:solidFill>
              </a:rPr>
              <a:t>0</a:t>
            </a:r>
            <a:r>
              <a:rPr lang="ru" sz="1900">
                <a:solidFill>
                  <a:srgbClr val="000000"/>
                </a:solidFill>
              </a:rPr>
              <a:t>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Сортировка Шелла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017725"/>
            <a:ext cx="852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Пример для последовательности 5, 3, 1.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776413"/>
            <a:ext cx="4762500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Сортировка Шелла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Сложность зависит от выбранной последовательности. Существуют следующие последовательности: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По Шеллу:  N/2, N</a:t>
            </a:r>
            <a:r>
              <a:rPr lang="ru" sz="1900">
                <a:solidFill>
                  <a:srgbClr val="000000"/>
                </a:solidFill>
              </a:rPr>
              <a:t>/4</a:t>
            </a:r>
            <a:r>
              <a:rPr lang="ru" sz="1900">
                <a:solidFill>
                  <a:srgbClr val="000000"/>
                </a:solidFill>
              </a:rPr>
              <a:t>,…, 1.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По Хиббарду: все 2</a:t>
            </a:r>
            <a:r>
              <a:rPr baseline="30000" lang="ru" sz="1900">
                <a:solidFill>
                  <a:srgbClr val="000000"/>
                </a:solidFill>
              </a:rPr>
              <a:t>i</a:t>
            </a:r>
            <a:r>
              <a:rPr lang="ru" sz="1900">
                <a:solidFill>
                  <a:srgbClr val="000000"/>
                </a:solidFill>
              </a:rPr>
              <a:t> - 1 ≤ N по убыванию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По Пратту: все 2</a:t>
            </a:r>
            <a:r>
              <a:rPr baseline="30000" lang="ru" sz="1900">
                <a:solidFill>
                  <a:srgbClr val="000000"/>
                </a:solidFill>
              </a:rPr>
              <a:t>i</a:t>
            </a:r>
            <a:r>
              <a:rPr lang="ru" sz="1900">
                <a:solidFill>
                  <a:srgbClr val="000000"/>
                </a:solidFill>
              </a:rPr>
              <a:t>*3</a:t>
            </a:r>
            <a:r>
              <a:rPr baseline="30000" lang="ru" sz="1900">
                <a:solidFill>
                  <a:srgbClr val="000000"/>
                </a:solidFill>
              </a:rPr>
              <a:t>j</a:t>
            </a:r>
            <a:r>
              <a:rPr lang="ru" sz="1900">
                <a:solidFill>
                  <a:srgbClr val="000000"/>
                </a:solidFill>
              </a:rPr>
              <a:t> ≤ N/2 по убыванию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59" name="Google Shape;15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Сортировка Шелла</a:t>
            </a:r>
            <a:endParaRPr/>
          </a:p>
        </p:txBody>
      </p:sp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graphicFrame>
        <p:nvGraphicFramePr>
          <p:cNvPr id="166" name="Google Shape;166;p25"/>
          <p:cNvGraphicFramePr/>
          <p:nvPr/>
        </p:nvGraphicFramePr>
        <p:xfrm>
          <a:off x="683850" y="121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{673D3118-3CCA-4372-95B9-3448B1774271}</a:tableStyleId>
              </a:tblPr>
              <a:tblGrid>
                <a:gridCol w="1944075"/>
                <a:gridCol w="1944075"/>
                <a:gridCol w="1944075"/>
                <a:gridCol w="1944075"/>
              </a:tblGrid>
              <a:tr h="50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Последовательность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Время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Память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Устойчивая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99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По Шеллу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O(n</a:t>
                      </a:r>
                      <a:r>
                        <a:rPr baseline="30000" lang="ru"/>
                        <a:t>2</a:t>
                      </a:r>
                      <a:r>
                        <a:rPr lang="ru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in-place</a:t>
                      </a:r>
                      <a:endParaRPr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Нет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99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По Хиббарду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O(n</a:t>
                      </a:r>
                      <a:r>
                        <a:rPr baseline="30000" lang="ru"/>
                        <a:t>3/2</a:t>
                      </a:r>
                      <a:r>
                        <a:rPr lang="ru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 vMerge="1"/>
                <a:tc vMerge="1"/>
              </a:tr>
              <a:tr h="599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По Пратту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O(n log</a:t>
                      </a:r>
                      <a:r>
                        <a:rPr baseline="30000" lang="ru"/>
                        <a:t>2</a:t>
                      </a:r>
                      <a:r>
                        <a:rPr lang="ru"/>
                        <a:t>(n))</a:t>
                      </a:r>
                      <a:endParaRPr/>
                    </a:p>
                  </a:txBody>
                  <a:tcPr marT="91425" marB="91425" marR="91425" marL="91425"/>
                </a:tc>
                <a:tc vMerge="1"/>
                <a:tc vMerge="1"/>
              </a:tr>
            </a:tbl>
          </a:graphicData>
        </a:graphic>
      </p:graphicFrame>
      <p:sp>
        <p:nvSpPr>
          <p:cNvPr id="167" name="Google Shape;167;p25"/>
          <p:cNvSpPr txBox="1"/>
          <p:nvPr/>
        </p:nvSpPr>
        <p:spPr>
          <a:xfrm>
            <a:off x="683850" y="3770025"/>
            <a:ext cx="75564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 - объем входных данных</a:t>
            </a:r>
            <a:endParaRPr b="0" i="0" sz="1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Сортировка слиянием</a:t>
            </a:r>
            <a:endParaRPr/>
          </a:p>
        </p:txBody>
      </p:sp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311700" y="107627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Рекурсивно массив разбивается надвое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Если в массиве 1 элемент =&gt; массив отсортирован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ru" sz="1900">
                <a:solidFill>
                  <a:srgbClr val="000000"/>
                </a:solidFill>
              </a:rPr>
              <a:t>Отсортированные подмассивы объединяются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74" name="Google Shape;17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graphicFrame>
        <p:nvGraphicFramePr>
          <p:cNvPr id="175" name="Google Shape;175;p26"/>
          <p:cNvGraphicFramePr/>
          <p:nvPr/>
        </p:nvGraphicFramePr>
        <p:xfrm>
          <a:off x="393600" y="248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{19555508-F9FC-4776-86C6-19361DF1C496}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4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Время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Память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Устойчивая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Худший случай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n*log(n)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O(n)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Да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Средний случай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n*log(n)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Лучший случай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n*log(n)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  <a:tc vMerge="1"/>
              </a:tr>
            </a:tbl>
          </a:graphicData>
        </a:graphic>
      </p:graphicFrame>
      <p:sp>
        <p:nvSpPr>
          <p:cNvPr id="176" name="Google Shape;176;p26"/>
          <p:cNvSpPr txBox="1"/>
          <p:nvPr/>
        </p:nvSpPr>
        <p:spPr>
          <a:xfrm>
            <a:off x="311700" y="4173025"/>
            <a:ext cx="75564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 - объем входных данных</a:t>
            </a:r>
            <a:endParaRPr b="0" i="0" sz="1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Почему такая сложность?</a:t>
            </a:r>
            <a:endParaRPr/>
          </a:p>
        </p:txBody>
      </p:sp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Время: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 любом (как в хорошем, так и в плохом) случае весь массив (n) рекурсивно дробится надвое. Рекурсия приводит к логарифмической сложности O(n*log(n)). Основание логарифма традиционно не учитывается, но оно 2.   </a:t>
            </a:r>
            <a:endParaRPr b="1" sz="19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Память: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Необходимо дополнительно сохранить каждый элемент (n).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83" name="Google Shape;18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311700" y="4173025"/>
            <a:ext cx="75564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 - объем входных данных</a:t>
            </a:r>
            <a:endParaRPr b="0" i="0" sz="1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Быстрая сортировка</a:t>
            </a:r>
            <a:endParaRPr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311700" y="107627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Выбирается опорный элемент. Все значения меньшие его перемещаются влево от него, а все ключи большие либо равные - вправо. 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Далее алгоритм рекурсивно применяется к каждой из частей.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91" name="Google Shape;19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graphicFrame>
        <p:nvGraphicFramePr>
          <p:cNvPr id="192" name="Google Shape;192;p28"/>
          <p:cNvGraphicFramePr/>
          <p:nvPr/>
        </p:nvGraphicFramePr>
        <p:xfrm>
          <a:off x="393600" y="248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{19555508-F9FC-4776-86C6-19361DF1C496}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4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Время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Память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Устойчивая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Худший случай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n^2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О(n)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В оптимизации O(log(n))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Нет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Средний случай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n*log(n)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Лучший случай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n*log(n)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  <a:tc vMerge="1"/>
              </a:tr>
            </a:tbl>
          </a:graphicData>
        </a:graphic>
      </p:graphicFrame>
      <p:sp>
        <p:nvSpPr>
          <p:cNvPr id="193" name="Google Shape;193;p28"/>
          <p:cNvSpPr txBox="1"/>
          <p:nvPr/>
        </p:nvSpPr>
        <p:spPr>
          <a:xfrm>
            <a:off x="311700" y="4173025"/>
            <a:ext cx="75564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 - объем входных данных</a:t>
            </a:r>
            <a:endParaRPr b="0" i="0" sz="1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Почему такая сложность?</a:t>
            </a:r>
            <a:endParaRPr/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11700" y="1076275"/>
            <a:ext cx="85206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Время: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 худшем случаем опорный элемент k приведет к сдвигу (k-1) элементов. O(k*(k-1)) == O(k^2) или же O(n^2).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В случае выбора (или почти хорошего) опорного элемента рекурсия даст логарифмическую сложность О(n*log(n))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Память: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Необходимо сохранить каждый элемент (n).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00" name="Google Shape;20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311700" y="4173025"/>
            <a:ext cx="75564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 - объем входных данных</a:t>
            </a:r>
            <a:endParaRPr b="0" i="0" sz="1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Цифровая сортировка(radix sort)</a:t>
            </a:r>
            <a:endParaRPr/>
          </a:p>
        </p:txBody>
      </p:sp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311700" y="107627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Сортировка чисел(строк) по разрядам: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LSD-сортировка: от младших разрядов к старшим.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MSD-сортировка: от старших к младшим.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08" name="Google Shape;20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30775"/>
            <a:ext cx="42862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7796" y="2430775"/>
            <a:ext cx="3694505" cy="177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LSD-сортировка</a:t>
            </a:r>
            <a:endParaRPr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311700" y="107627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Итерация по разрядом: от младшего к старшему</a:t>
            </a:r>
            <a:r>
              <a:rPr lang="ru" sz="1900">
                <a:solidFill>
                  <a:srgbClr val="000000"/>
                </a:solidFill>
              </a:rPr>
              <a:t>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Устойчивая сортировка на каждом шаге(обычно используется сортировка </a:t>
            </a:r>
            <a:r>
              <a:rPr lang="ru" sz="1900">
                <a:solidFill>
                  <a:srgbClr val="000000"/>
                </a:solidFill>
              </a:rPr>
              <a:t>подсчетом)</a:t>
            </a:r>
            <a:r>
              <a:rPr lang="ru" sz="1900">
                <a:solidFill>
                  <a:srgbClr val="000000"/>
                </a:solidFill>
              </a:rPr>
              <a:t>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17" name="Google Shape;21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graphicFrame>
        <p:nvGraphicFramePr>
          <p:cNvPr id="218" name="Google Shape;218;p31"/>
          <p:cNvGraphicFramePr/>
          <p:nvPr/>
        </p:nvGraphicFramePr>
        <p:xfrm>
          <a:off x="1857375" y="243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{19555508-F9FC-4776-86C6-19361DF1C496}</a:tableStyleId>
              </a:tblPr>
              <a:tblGrid>
                <a:gridCol w="1809750"/>
                <a:gridCol w="1809750"/>
                <a:gridCol w="1809750"/>
              </a:tblGrid>
              <a:tr h="4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Время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Память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Устойчивая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/>
                        <a:t>O(m*T(n))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/>
                        <a:t>O(m*(n+k)) - CountSort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/>
                        <a:t>O(T(n))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О(n + </a:t>
                      </a:r>
                      <a:r>
                        <a:rPr lang="ru"/>
                        <a:t>k</a:t>
                      </a:r>
                      <a:r>
                        <a:rPr lang="ru" sz="1400" u="none" cap="none" strike="noStrike"/>
                        <a:t>) - CountSort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/>
                        <a:t>Да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9" name="Google Shape;219;p31"/>
          <p:cNvSpPr txBox="1"/>
          <p:nvPr/>
        </p:nvSpPr>
        <p:spPr>
          <a:xfrm>
            <a:off x="434100" y="3762400"/>
            <a:ext cx="79314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PT Sans"/>
                <a:ea typeface="PT Sans"/>
                <a:cs typeface="PT Sans"/>
                <a:sym typeface="PT Sans"/>
              </a:rPr>
              <a:t>n - количество чисел, m - количество разрядов, k - основание системы счисления, T(n) - сложность устойчивой сортировки.</a:t>
            </a:r>
            <a:endParaRPr sz="18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MSD-сортировка</a:t>
            </a:r>
            <a:endParaRPr/>
          </a:p>
        </p:txBody>
      </p:sp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311700" y="973600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Итерация по разрядом: от старшего к младшему.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Разделение по старшему неотсортированному разряду на k подмассивов.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Повторение для всех непустых подмассивов.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26" name="Google Shape;22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graphicFrame>
        <p:nvGraphicFramePr>
          <p:cNvPr id="227" name="Google Shape;227;p32"/>
          <p:cNvGraphicFramePr/>
          <p:nvPr/>
        </p:nvGraphicFramePr>
        <p:xfrm>
          <a:off x="1674200" y="227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{19555508-F9FC-4776-86C6-19361DF1C496}</a:tableStyleId>
              </a:tblPr>
              <a:tblGrid>
                <a:gridCol w="1540500"/>
                <a:gridCol w="1357325"/>
                <a:gridCol w="1357325"/>
                <a:gridCol w="1357325"/>
              </a:tblGrid>
              <a:tr h="4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Время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Память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cap="none" strike="noStrike"/>
                        <a:t>Устойчивая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Худший случай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/>
                        <a:t>O(nk)</a:t>
                      </a:r>
                      <a:endParaRPr/>
                    </a:p>
                  </a:txBody>
                  <a:tcPr marT="91425" marB="91425" marR="91425" marL="91425"/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О(n + k) </a:t>
                      </a:r>
                      <a:endParaRPr/>
                    </a:p>
                  </a:txBody>
                  <a:tcPr marT="91425" marB="91425" marR="91425" marL="91425"/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Нет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Лучший случай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Ω(n log</a:t>
                      </a:r>
                      <a:r>
                        <a:rPr baseline="-25000" lang="ru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b</a:t>
                      </a:r>
                      <a:r>
                        <a:rPr lang="ru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(n))</a:t>
                      </a:r>
                      <a:endParaRPr/>
                    </a:p>
                  </a:txBody>
                  <a:tcPr marT="91425" marB="91425" marR="91425" marL="91425"/>
                </a:tc>
                <a:tc vMerge="1"/>
                <a:tc vMerge="1"/>
              </a:tr>
            </a:tbl>
          </a:graphicData>
        </a:graphic>
      </p:graphicFrame>
      <p:sp>
        <p:nvSpPr>
          <p:cNvPr id="228" name="Google Shape;228;p32"/>
          <p:cNvSpPr txBox="1"/>
          <p:nvPr/>
        </p:nvSpPr>
        <p:spPr>
          <a:xfrm>
            <a:off x="434100" y="3507075"/>
            <a:ext cx="79314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PT Sans"/>
                <a:ea typeface="PT Sans"/>
                <a:cs typeface="PT Sans"/>
                <a:sym typeface="PT Sans"/>
              </a:rPr>
              <a:t>n - количество чисел, k - основание системы счисления</a:t>
            </a:r>
            <a:endParaRPr sz="1800"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PT Sans"/>
                <a:ea typeface="PT Sans"/>
                <a:cs typeface="PT Sans"/>
                <a:sym typeface="PT Sans"/>
              </a:rPr>
              <a:t>Худший случай - одинаковые числа. Лучший случай - равномерное разделение на b частей.</a:t>
            </a:r>
            <a:endParaRPr sz="18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Вопросы по курсу можно задавать:</a:t>
            </a:r>
            <a:endParaRPr/>
          </a:p>
        </p:txBody>
      </p:sp>
      <p:sp>
        <p:nvSpPr>
          <p:cNvPr id="234" name="Google Shape;2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" name="Google Shape;235;p33"/>
          <p:cNvSpPr txBox="1"/>
          <p:nvPr>
            <p:ph type="title"/>
          </p:nvPr>
        </p:nvSpPr>
        <p:spPr>
          <a:xfrm>
            <a:off x="70775" y="3060025"/>
            <a:ext cx="8925000" cy="11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Почта дисциплины - </a:t>
            </a:r>
            <a:r>
              <a:rPr lang="ru" sz="2400" u="sng">
                <a:solidFill>
                  <a:schemeClr val="hlink"/>
                </a:solidFill>
                <a:hlinkClick r:id="rId3"/>
              </a:rPr>
              <a:t>alg@moevm.info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Иванов Дмитрий Владимирович - </a:t>
            </a:r>
            <a:r>
              <a:rPr lang="ru" sz="2400" u="sng">
                <a:solidFill>
                  <a:schemeClr val="hlink"/>
                </a:solidFill>
                <a:hlinkClick r:id="rId4"/>
              </a:rPr>
              <a:t>dmitry.ivanov@moevm.info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Шалагинов Иван Владимирович - </a:t>
            </a:r>
            <a:r>
              <a:rPr lang="ru" sz="2400" u="sng">
                <a:solidFill>
                  <a:schemeClr val="hlink"/>
                </a:solidFill>
                <a:hlinkClick r:id="rId5"/>
              </a:rPr>
              <a:t>ivan.shalaginov@moevm.info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Лэти тема">
  <a:themeElements>
    <a:clrScheme name="corp_colors">
      <a:dk1>
        <a:srgbClr val="05336E"/>
      </a:dk1>
      <a:lt1>
        <a:srgbClr val="FFFFFF"/>
      </a:lt1>
      <a:dk2>
        <a:srgbClr val="05336E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67A7F8"/>
      </a:hlink>
      <a:folHlink>
        <a:srgbClr val="67A7F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