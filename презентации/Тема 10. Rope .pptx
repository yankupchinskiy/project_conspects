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Proxima Nova"/>
      <p:regular r:id="rId21"/>
      <p:bold r:id="rId22"/>
      <p:italic r:id="rId23"/>
      <p:boldItalic r:id="rId24"/>
    </p:embeddedFont>
    <p:embeddedFont>
      <p:font typeface="PT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roximaNova-bold.fntdata"/><Relationship Id="rId21" Type="http://schemas.openxmlformats.org/officeDocument/2006/relationships/font" Target="fonts/ProximaNova-regular.fntdata"/><Relationship Id="rId24" Type="http://schemas.openxmlformats.org/officeDocument/2006/relationships/font" Target="fonts/ProximaNova-boldItalic.fntdata"/><Relationship Id="rId23" Type="http://schemas.openxmlformats.org/officeDocument/2006/relationships/font" Target="fonts/ProximaNova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TSans-bold.fntdata"/><Relationship Id="rId25" Type="http://schemas.openxmlformats.org/officeDocument/2006/relationships/font" Target="fonts/PTSans-regular.fntdata"/><Relationship Id="rId28" Type="http://schemas.openxmlformats.org/officeDocument/2006/relationships/font" Target="fonts/PTSans-boldItalic.fntdata"/><Relationship Id="rId27" Type="http://schemas.openxmlformats.org/officeDocument/2006/relationships/font" Target="fonts/PT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89858a8dfa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89858a8df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9858a8df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89858a8df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9858a8df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89858a8df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89858a8dfa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389858a8dfa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89858a8dfa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389858a8dfa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89858a8dfa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389858a8dfa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9858a8dfa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89858a8dfa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1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27000" lIns="24300" spcFirstLastPara="1" rIns="0" wrap="square" tIns="270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lv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2pPr>
            <a:lvl3pPr indent="-3619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3pPr>
            <a:lvl4pPr indent="-3619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4pPr>
            <a:lvl5pPr indent="-3619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Лэти тема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>
  <p:cSld name="Титульный слайд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ctrTitle"/>
          </p:nvPr>
        </p:nvSpPr>
        <p:spPr>
          <a:xfrm>
            <a:off x="629841" y="3139343"/>
            <a:ext cx="7885500" cy="6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54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3600"/>
              <a:buFont typeface="PT Sans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629841" y="4010118"/>
            <a:ext cx="78855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21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629841" y="2589257"/>
            <a:ext cx="78855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21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идео + заголовок и объект">
  <p:cSld name="Видео + заголовок и объек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/>
        </p:nvSpPr>
        <p:spPr>
          <a:xfrm>
            <a:off x="251952" y="2099245"/>
            <a:ext cx="24975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" sz="2400" u="none" cap="none" strike="noStrik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НЕ ИСПОЛЬЗОВАТЬ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3923927" y="4788678"/>
            <a:ext cx="3348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2700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type="title"/>
          </p:nvPr>
        </p:nvSpPr>
        <p:spPr>
          <a:xfrm>
            <a:off x="3923927" y="255824"/>
            <a:ext cx="47796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2" type="body"/>
          </p:nvPr>
        </p:nvSpPr>
        <p:spPr>
          <a:xfrm>
            <a:off x="3923927" y="897731"/>
            <a:ext cx="4779600" cy="35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29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Заголовок и объект">
  <p:cSld name="1_Заголовок и объек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7596336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" name="Google Shape;37;p7"/>
          <p:cNvSpPr/>
          <p:nvPr/>
        </p:nvSpPr>
        <p:spPr>
          <a:xfrm rot="-5400000">
            <a:off x="8085225" y="4207662"/>
            <a:ext cx="552965" cy="53291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lt1"/>
                </a:solidFill>
                <a:latin typeface="PT Sans"/>
              </a:rPr>
              <a:t>НЕ ИСПОЛЬЗОВАТЬ</a:t>
            </a: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29">
          <p15:clr>
            <a:srgbClr val="FBAE40"/>
          </p15:clr>
        </p15:guide>
        <p15:guide id="2" pos="295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>
  <p:cSld name="Заголовок и объект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41" name="Google Shape;41;p8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29">
          <p15:clr>
            <a:srgbClr val="FBAE40"/>
          </p15:clr>
        </p15:guide>
        <p15:guide id="2" pos="29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>
  <p:cSld name="Два объекта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idx="1" type="body"/>
          </p:nvPr>
        </p:nvSpPr>
        <p:spPr>
          <a:xfrm>
            <a:off x="440531" y="897564"/>
            <a:ext cx="40236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2" type="body"/>
          </p:nvPr>
        </p:nvSpPr>
        <p:spPr>
          <a:xfrm>
            <a:off x="4680012" y="897564"/>
            <a:ext cx="40170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47" name="Google Shape;47;p9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3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заголовка и объекта">
  <p:cSld name="Два заголовка и объекта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440531" y="897564"/>
            <a:ext cx="40236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b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1" name="Google Shape;51;p10"/>
          <p:cNvSpPr txBox="1"/>
          <p:nvPr>
            <p:ph idx="2" type="body"/>
          </p:nvPr>
        </p:nvSpPr>
        <p:spPr>
          <a:xfrm>
            <a:off x="440531" y="1519125"/>
            <a:ext cx="4023600" cy="29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3" type="body"/>
          </p:nvPr>
        </p:nvSpPr>
        <p:spPr>
          <a:xfrm>
            <a:off x="4680012" y="897564"/>
            <a:ext cx="40236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b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3" name="Google Shape;53;p10"/>
          <p:cNvSpPr txBox="1"/>
          <p:nvPr>
            <p:ph idx="4" type="body"/>
          </p:nvPr>
        </p:nvSpPr>
        <p:spPr>
          <a:xfrm>
            <a:off x="4680011" y="1519125"/>
            <a:ext cx="4023600" cy="29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55" name="Google Shape;55;p10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5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>
  <p:cSld name="Объект с подписью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40531" y="897564"/>
            <a:ext cx="33753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2" type="body"/>
          </p:nvPr>
        </p:nvSpPr>
        <p:spPr>
          <a:xfrm>
            <a:off x="3923928" y="897564"/>
            <a:ext cx="47796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3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>
  <p:cSld name="Рисунок с подписью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/>
          <p:nvPr>
            <p:ph idx="2" type="pic"/>
          </p:nvPr>
        </p:nvSpPr>
        <p:spPr>
          <a:xfrm>
            <a:off x="3923928" y="897564"/>
            <a:ext cx="4779600" cy="35643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2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66" name="Google Shape;66;p12"/>
          <p:cNvSpPr txBox="1"/>
          <p:nvPr>
            <p:ph idx="1" type="body"/>
          </p:nvPr>
        </p:nvSpPr>
        <p:spPr>
          <a:xfrm>
            <a:off x="440531" y="897564"/>
            <a:ext cx="33753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2"/>
          <p:cNvSpPr txBox="1"/>
          <p:nvPr>
            <p:ph idx="3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Заголовок и объект">
  <p:cSld name="2_Заголовок и объек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Font typeface="PT San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7596336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2" name="Google Shape;72;p13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4" name="Google Shape;74;p13"/>
          <p:cNvSpPr/>
          <p:nvPr/>
        </p:nvSpPr>
        <p:spPr>
          <a:xfrm rot="-5400000">
            <a:off x="8085225" y="4207662"/>
            <a:ext cx="552965" cy="53291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lt1"/>
                </a:solidFill>
                <a:latin typeface="PT Sans"/>
              </a:rPr>
              <a:t>НЕ ИСПОЛЬЗОВАТЬ</a:t>
            </a: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29">
          <p15:clr>
            <a:srgbClr val="FBAE40"/>
          </p15:clr>
        </p15:guide>
        <p15:guide id="2" pos="295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 1" type="obj">
  <p:cSld name="OBJEC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629842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4" name="Google Shape;84;p15"/>
          <p:cNvSpPr txBox="1"/>
          <p:nvPr>
            <p:ph idx="2" type="body"/>
          </p:nvPr>
        </p:nvSpPr>
        <p:spPr>
          <a:xfrm>
            <a:off x="629842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5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6" name="Google Shape;86;p15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2.jp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2400"/>
              <a:buFont typeface="PT Sans"/>
              <a:buNone/>
              <a:defRPr b="1" i="0" sz="24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-3619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-3619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-3619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-3619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55825"/>
            <a:ext cx="393602" cy="39360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743">
          <p15:clr>
            <a:srgbClr val="F26B43"/>
          </p15:clr>
        </p15:guide>
        <p15:guide id="2" pos="39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alg@moevm.info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mailto:alg@moevm.info" TargetMode="External"/><Relationship Id="rId4" Type="http://schemas.openxmlformats.org/officeDocument/2006/relationships/hyperlink" Target="mailto:dmitry.ivanov@moevm.info" TargetMode="External"/><Relationship Id="rId5" Type="http://schemas.openxmlformats.org/officeDocument/2006/relationships/hyperlink" Target="mailto:ivan.shalaginov@moevm.info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ru"/>
              <a:t>Rope</a:t>
            </a:r>
            <a:endParaRPr/>
          </a:p>
        </p:txBody>
      </p:sp>
      <p:sp>
        <p:nvSpPr>
          <p:cNvPr id="95" name="Google Shape;95;p16"/>
          <p:cNvSpPr txBox="1"/>
          <p:nvPr>
            <p:ph idx="1" type="subTitle"/>
          </p:nvPr>
        </p:nvSpPr>
        <p:spPr>
          <a:xfrm>
            <a:off x="165075" y="3097350"/>
            <a:ext cx="88359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/>
              <a:t>Для вопросов по курсу:  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➢"/>
            </a:pPr>
            <a:r>
              <a:rPr lang="ru" sz="2200"/>
              <a:t>Почта дисциплины - </a:t>
            </a:r>
            <a:r>
              <a:rPr lang="ru" sz="2200" u="sng">
                <a:solidFill>
                  <a:schemeClr val="hlink"/>
                </a:solidFill>
                <a:hlinkClick r:id="rId3"/>
              </a:rPr>
              <a:t>alg@moevm.info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/>
              <a:t>Префикс в теме письма [ALG_43XX]</a:t>
            </a:r>
            <a:endParaRPr/>
          </a:p>
        </p:txBody>
      </p:sp>
      <p:sp>
        <p:nvSpPr>
          <p:cNvPr id="96" name="Google Shape;96;p16"/>
          <p:cNvSpPr txBox="1"/>
          <p:nvPr/>
        </p:nvSpPr>
        <p:spPr>
          <a:xfrm>
            <a:off x="584675" y="94400"/>
            <a:ext cx="85206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ru" sz="18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СПбГЭТУ “ЛЭТИ”, ФКТИ, МОЭВМ</a:t>
            </a:r>
            <a:endParaRPr b="0" i="1" sz="18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Rope</a:t>
            </a:r>
            <a:endParaRPr/>
          </a:p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311700" y="1076275"/>
            <a:ext cx="85206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Rope</a:t>
            </a:r>
            <a:r>
              <a:rPr lang="ru" sz="1900">
                <a:solidFill>
                  <a:srgbClr val="000000"/>
                </a:solidFill>
              </a:rPr>
              <a:t> - </a:t>
            </a:r>
            <a:r>
              <a:rPr lang="ru" sz="1900">
                <a:solidFill>
                  <a:srgbClr val="000000"/>
                </a:solidFill>
              </a:rPr>
              <a:t>структура данных для хранения строки, представляющая из себя двоичное сбалансированное дерево и позволяющая делать операции вставки, удаления и конкатенации с логарифмической асимптотикой</a:t>
            </a:r>
            <a:r>
              <a:rPr lang="ru" sz="1900">
                <a:solidFill>
                  <a:srgbClr val="000000"/>
                </a:solidFill>
              </a:rPr>
              <a:t>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Балансировка происходит также как в АВЛ-дереве</a:t>
            </a:r>
            <a:endParaRPr sz="19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03" name="Google Shape;10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Rope. Структура</a:t>
            </a:r>
            <a:endParaRPr/>
          </a:p>
        </p:txBody>
      </p:sp>
      <p:sp>
        <p:nvSpPr>
          <p:cNvPr id="109" name="Google Shape;109;p18"/>
          <p:cNvSpPr txBox="1"/>
          <p:nvPr>
            <p:ph idx="1" type="body"/>
          </p:nvPr>
        </p:nvSpPr>
        <p:spPr>
          <a:xfrm>
            <a:off x="311700" y="1017725"/>
            <a:ext cx="8520600" cy="3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В каждом листе хранится последовательная часть строки и ее длина, а в промежуточных вершинах хранится сумма длин всех листьев в поддереве. 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Изначально дерево состоит из одной вершины — самой строки.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Используя информацию в промежуточных вершинах, можно получать символы строки по индексу. 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В</a:t>
            </a:r>
            <a:r>
              <a:rPr lang="ru" sz="1900">
                <a:solidFill>
                  <a:srgbClr val="000000"/>
                </a:solidFill>
              </a:rPr>
              <a:t>се внутренние вершины имеют ровно двух детей, а листы — ни одного.</a:t>
            </a:r>
            <a:endParaRPr sz="19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10" name="Google Shape;11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Свойства Rope</a:t>
            </a:r>
            <a:endParaRPr/>
          </a:p>
        </p:txBody>
      </p:sp>
      <p:sp>
        <p:nvSpPr>
          <p:cNvPr id="116" name="Google Shape;116;p19"/>
          <p:cNvSpPr txBox="1"/>
          <p:nvPr>
            <p:ph idx="1" type="body"/>
          </p:nvPr>
        </p:nvSpPr>
        <p:spPr>
          <a:xfrm>
            <a:off x="311700" y="1076275"/>
            <a:ext cx="8520600" cy="3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Операции, которые часто используются на строках, должны быть более эффективными. Например: конкатенация, взятие подстроки.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Также эти операции должны эффективно работать и с длинными строками. Не должно быть прямой зависимости от длины строк.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Персистентность(хранение предыдущих состояний). Иногда необходимо при изменении строки сохранить ее состояние перед изменением и вернуться к нему, если необходимо.</a:t>
            </a:r>
            <a:endParaRPr sz="19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17" name="Google Shape;11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Поиск символа по индексу</a:t>
            </a:r>
            <a:endParaRPr/>
          </a:p>
        </p:txBody>
      </p:sp>
      <p:sp>
        <p:nvSpPr>
          <p:cNvPr id="123" name="Google Shape;123;p20"/>
          <p:cNvSpPr txBox="1"/>
          <p:nvPr>
            <p:ph idx="1" type="body"/>
          </p:nvPr>
        </p:nvSpPr>
        <p:spPr>
          <a:xfrm>
            <a:off x="311700" y="1076275"/>
            <a:ext cx="85206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000000"/>
                </a:solidFill>
              </a:rPr>
              <a:t>Для поиска символа с индексом i спускаемся по дереву из корня, используя веса, записанные в вершинах для </a:t>
            </a:r>
            <a:r>
              <a:rPr lang="ru" sz="1900">
                <a:solidFill>
                  <a:srgbClr val="000000"/>
                </a:solidFill>
              </a:rPr>
              <a:t>определения</a:t>
            </a:r>
            <a:r>
              <a:rPr lang="ru" sz="1900">
                <a:solidFill>
                  <a:srgbClr val="000000"/>
                </a:solidFill>
              </a:rPr>
              <a:t> направления спуска: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Текущая вершина не лист:</a:t>
            </a:r>
            <a:endParaRPr sz="1900">
              <a:solidFill>
                <a:srgbClr val="000000"/>
              </a:solidFill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○"/>
            </a:pPr>
            <a:r>
              <a:rPr lang="ru" sz="1900">
                <a:solidFill>
                  <a:srgbClr val="000000"/>
                </a:solidFill>
              </a:rPr>
              <a:t>w ≥ i, тогда идем в левое поддерево.</a:t>
            </a:r>
            <a:endParaRPr sz="1900">
              <a:solidFill>
                <a:srgbClr val="000000"/>
              </a:solidFill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○"/>
            </a:pPr>
            <a:r>
              <a:rPr lang="ru" sz="1900">
                <a:solidFill>
                  <a:srgbClr val="000000"/>
                </a:solidFill>
              </a:rPr>
              <a:t>Иначе идем в правое поддерево и ищем там i - w символ.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Текущая вершина лист</a:t>
            </a:r>
            <a:endParaRPr sz="1900">
              <a:solidFill>
                <a:srgbClr val="000000"/>
              </a:solidFill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○"/>
            </a:pPr>
            <a:r>
              <a:rPr lang="ru" sz="1900">
                <a:solidFill>
                  <a:srgbClr val="000000"/>
                </a:solidFill>
              </a:rPr>
              <a:t>Возвращаем символ с соответствующим номером.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24" name="Google Shape;12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25" name="Google Shape;125;p20"/>
          <p:cNvSpPr txBox="1"/>
          <p:nvPr/>
        </p:nvSpPr>
        <p:spPr>
          <a:xfrm>
            <a:off x="475100" y="4246100"/>
            <a:ext cx="389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222222"/>
                </a:solidFill>
                <a:latin typeface="PT Sans"/>
                <a:ea typeface="PT Sans"/>
                <a:cs typeface="PT Sans"/>
                <a:sym typeface="PT Sans"/>
              </a:rPr>
              <a:t>w - вес левого поддерева</a:t>
            </a:r>
            <a:endParaRPr sz="1300">
              <a:solidFill>
                <a:srgbClr val="222222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Конкатенация - слияние строк</a:t>
            </a:r>
            <a:endParaRPr/>
          </a:p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311700" y="1076275"/>
            <a:ext cx="85206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Для конкатенации с другой строкой: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Создаем новый корень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Подвешиваем к нему обе строки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32" name="Google Shape;13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33" name="Google Shape;13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0625" y="2853900"/>
            <a:ext cx="676275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>
            <p:ph type="title"/>
          </p:nvPr>
        </p:nvSpPr>
        <p:spPr>
          <a:xfrm>
            <a:off x="311700" y="1935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Разбиение строки</a:t>
            </a:r>
            <a:endParaRPr/>
          </a:p>
        </p:txBody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311700" y="1109650"/>
            <a:ext cx="8520600" cy="26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000000"/>
                </a:solidFill>
              </a:rPr>
              <a:t>Для разбиения строки на две по индексу i: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Спускаемся по дереву аналогично поиску:</a:t>
            </a:r>
            <a:endParaRPr sz="1900">
              <a:solidFill>
                <a:srgbClr val="000000"/>
              </a:solidFill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○"/>
            </a:pPr>
            <a:r>
              <a:rPr lang="ru" sz="1900">
                <a:solidFill>
                  <a:srgbClr val="000000"/>
                </a:solidFill>
              </a:rPr>
              <a:t>Делим каждую вершину на две, каждая из которых будет соответствовать разным половинам строки.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Пересчитываем вес каждой вершины.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Избавляемся от вершин, у которых только один потомок.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40" name="Google Shape;14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Разбиение строки. Пример</a:t>
            </a:r>
            <a:endParaRPr/>
          </a:p>
        </p:txBody>
      </p:sp>
      <p:sp>
        <p:nvSpPr>
          <p:cNvPr id="146" name="Google Shape;146;p23"/>
          <p:cNvSpPr txBox="1"/>
          <p:nvPr>
            <p:ph idx="1" type="body"/>
          </p:nvPr>
        </p:nvSpPr>
        <p:spPr>
          <a:xfrm>
            <a:off x="311700" y="840675"/>
            <a:ext cx="8520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000000"/>
                </a:solidFill>
              </a:rPr>
              <a:t>Рассмотрим разбиение строки по индексу 16.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47" name="Google Shape;14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48" name="Google Shape;14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6338" y="1463325"/>
            <a:ext cx="6791325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/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Разбиение строки. Пример</a:t>
            </a:r>
            <a:endParaRPr/>
          </a:p>
        </p:txBody>
      </p:sp>
      <p:sp>
        <p:nvSpPr>
          <p:cNvPr id="154" name="Google Shape;154;p24"/>
          <p:cNvSpPr txBox="1"/>
          <p:nvPr>
            <p:ph idx="1" type="body"/>
          </p:nvPr>
        </p:nvSpPr>
        <p:spPr>
          <a:xfrm>
            <a:off x="311700" y="840675"/>
            <a:ext cx="8520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000000"/>
                </a:solidFill>
              </a:rPr>
              <a:t>Результат разбиения и пересчета веса вершин.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55" name="Google Shape;155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56" name="Google Shape;15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1317675"/>
            <a:ext cx="7620000" cy="309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Разбиение строки. Пример</a:t>
            </a:r>
            <a:endParaRPr/>
          </a:p>
        </p:txBody>
      </p:sp>
      <p:sp>
        <p:nvSpPr>
          <p:cNvPr id="162" name="Google Shape;162;p25"/>
          <p:cNvSpPr txBox="1"/>
          <p:nvPr>
            <p:ph idx="1" type="body"/>
          </p:nvPr>
        </p:nvSpPr>
        <p:spPr>
          <a:xfrm>
            <a:off x="311700" y="840675"/>
            <a:ext cx="8520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000000"/>
                </a:solidFill>
              </a:rPr>
              <a:t>Результат операции после удаления лишних вершин.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63" name="Google Shape;16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64" name="Google Shape;16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1943800"/>
            <a:ext cx="7620000" cy="133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Вставка и удаление подстроки</a:t>
            </a:r>
            <a:endParaRPr/>
          </a:p>
        </p:txBody>
      </p:sp>
      <p:sp>
        <p:nvSpPr>
          <p:cNvPr id="170" name="Google Shape;170;p26"/>
          <p:cNvSpPr txBox="1"/>
          <p:nvPr>
            <p:ph idx="1" type="body"/>
          </p:nvPr>
        </p:nvSpPr>
        <p:spPr>
          <a:xfrm>
            <a:off x="311700" y="1076275"/>
            <a:ext cx="8520600" cy="26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Операции вставки и удаления подстроки происходит посредством использования методов разбиения и слияния строк.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Операция удаления - удаляет из строки подстроку, начиная с индекса beginIndex и заканчивая (не включая) индексом endIndex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Операция вставки - вставляет данную строку в исходную, начиная с позиции insertIndex. 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71" name="Google Shape;171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Вставка подстроки</a:t>
            </a:r>
            <a:endParaRPr/>
          </a:p>
        </p:txBody>
      </p:sp>
      <p:sp>
        <p:nvSpPr>
          <p:cNvPr id="177" name="Google Shape;177;p27"/>
          <p:cNvSpPr txBox="1"/>
          <p:nvPr>
            <p:ph idx="1" type="body"/>
          </p:nvPr>
        </p:nvSpPr>
        <p:spPr>
          <a:xfrm>
            <a:off x="311700" y="1529700"/>
            <a:ext cx="8520600" cy="17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Разбиваем дерево на 2 по индексу </a:t>
            </a:r>
            <a:r>
              <a:rPr lang="ru" sz="1900">
                <a:solidFill>
                  <a:srgbClr val="000000"/>
                </a:solidFill>
              </a:rPr>
              <a:t>insertIndex.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Сливаем левое получившиеся дерево с нодой, которая хранит подстроку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Сливаем результат предыдущей операции с правым деревом, получившимся после разбиения.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78" name="Google Shape;17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Удаление подстроки</a:t>
            </a:r>
            <a:endParaRPr/>
          </a:p>
        </p:txBody>
      </p:sp>
      <p:sp>
        <p:nvSpPr>
          <p:cNvPr id="184" name="Google Shape;184;p28"/>
          <p:cNvSpPr txBox="1"/>
          <p:nvPr>
            <p:ph idx="1" type="body"/>
          </p:nvPr>
        </p:nvSpPr>
        <p:spPr>
          <a:xfrm>
            <a:off x="311700" y="1157475"/>
            <a:ext cx="8520600" cy="26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Разбиваем дерево на 2 по индексу beginIndex.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Разбиваем правое дерево, получившиеся в результате предыдущей операции по индексу endIndex - beginIndex.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Берем левое поддерево, получившиеся в результате первого разбиения, и сливаем его с правым деревом, получившимся в результате второго разбиения.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85" name="Google Shape;185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Интерактив - сложность операций</a:t>
            </a:r>
            <a:endParaRPr/>
          </a:p>
        </p:txBody>
      </p:sp>
      <p:sp>
        <p:nvSpPr>
          <p:cNvPr id="191" name="Google Shape;191;p29"/>
          <p:cNvSpPr txBox="1"/>
          <p:nvPr>
            <p:ph idx="1" type="body"/>
          </p:nvPr>
        </p:nvSpPr>
        <p:spPr>
          <a:xfrm>
            <a:off x="311700" y="1157475"/>
            <a:ext cx="8520600" cy="26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000000"/>
                </a:solidFill>
              </a:rPr>
              <a:t>Как вы думаете, какую сложность имеют следующие операции?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Поиск по индексу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Слияние двух строк(деревьев)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Разбиение строки(дерева)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Вставка подстроки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Удаление подстроки 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92" name="Google Shape;192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/>
              <a:t>Вопросы по курсу можно задавать:</a:t>
            </a:r>
            <a:endParaRPr/>
          </a:p>
        </p:txBody>
      </p:sp>
      <p:sp>
        <p:nvSpPr>
          <p:cNvPr id="198" name="Google Shape;19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99" name="Google Shape;199;p30"/>
          <p:cNvSpPr txBox="1"/>
          <p:nvPr>
            <p:ph type="title"/>
          </p:nvPr>
        </p:nvSpPr>
        <p:spPr>
          <a:xfrm>
            <a:off x="70775" y="3060025"/>
            <a:ext cx="8925000" cy="115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 sz="2400"/>
              <a:t>Почта дисциплины - </a:t>
            </a:r>
            <a:r>
              <a:rPr lang="ru" sz="2400" u="sng">
                <a:solidFill>
                  <a:schemeClr val="hlink"/>
                </a:solidFill>
                <a:hlinkClick r:id="rId3"/>
              </a:rPr>
              <a:t>alg@moevm.info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 sz="2400"/>
              <a:t>Иванов Дмитрий Владимирович - </a:t>
            </a:r>
            <a:r>
              <a:rPr lang="ru" sz="2400" u="sng">
                <a:solidFill>
                  <a:schemeClr val="hlink"/>
                </a:solidFill>
                <a:hlinkClick r:id="rId4"/>
              </a:rPr>
              <a:t>dmitry.ivanov@moevm.info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 sz="2400"/>
              <a:t>Шалагинов Иван Владимирович - </a:t>
            </a:r>
            <a:r>
              <a:rPr lang="ru" sz="2400" u="sng">
                <a:solidFill>
                  <a:schemeClr val="hlink"/>
                </a:solidFill>
                <a:hlinkClick r:id="rId5"/>
              </a:rPr>
              <a:t>ivan.shalaginov@moevm.info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Лэти тема">
  <a:themeElements>
    <a:clrScheme name="corp_colors">
      <a:dk1>
        <a:srgbClr val="05336E"/>
      </a:dk1>
      <a:lt1>
        <a:srgbClr val="FFFFFF"/>
      </a:lt1>
      <a:dk2>
        <a:srgbClr val="05336E"/>
      </a:dk2>
      <a:lt2>
        <a:srgbClr val="FFFFFF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67A7F8"/>
      </a:hlink>
      <a:folHlink>
        <a:srgbClr val="67A7F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