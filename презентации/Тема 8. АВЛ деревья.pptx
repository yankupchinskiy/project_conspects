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PT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PTSans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TSans-italic.fntdata"/><Relationship Id="rId25" Type="http://schemas.openxmlformats.org/officeDocument/2006/relationships/font" Target="fonts/PTSans-bold.fntdata"/><Relationship Id="rId27" Type="http://schemas.openxmlformats.org/officeDocument/2006/relationships/font" Target="fonts/PT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lv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3pPr>
            <a:lvl4pPr indent="-3619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4pPr>
            <a:lvl5pPr indent="-3619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Лэти тема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29841" y="3139343"/>
            <a:ext cx="78855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54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3600"/>
              <a:buFont typeface="PT Sa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9841" y="4010118"/>
            <a:ext cx="78855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629841" y="2589257"/>
            <a:ext cx="78855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идео + заголовок и объект">
  <p:cSld name="Видео + 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/>
        </p:nvSpPr>
        <p:spPr>
          <a:xfrm>
            <a:off x="251952" y="2099245"/>
            <a:ext cx="2497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НЕ ИСПОЛЬЗОВАТЬ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923927" y="4788678"/>
            <a:ext cx="3348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2700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923927" y="255824"/>
            <a:ext cx="4779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3923927" y="897731"/>
            <a:ext cx="4779600" cy="3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440531" y="897564"/>
            <a:ext cx="4023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680012" y="897564"/>
            <a:ext cx="40170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заголовка и объекта">
  <p:cSld name="Два заголовка и объекта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40531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4053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3" type="body"/>
          </p:nvPr>
        </p:nvSpPr>
        <p:spPr>
          <a:xfrm>
            <a:off x="4680012" y="897564"/>
            <a:ext cx="40236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b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10"/>
          <p:cNvSpPr txBox="1"/>
          <p:nvPr>
            <p:ph idx="4" type="body"/>
          </p:nvPr>
        </p:nvSpPr>
        <p:spPr>
          <a:xfrm>
            <a:off x="4680011" y="1519125"/>
            <a:ext cx="4023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5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2" type="body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/>
          <p:nvPr>
            <p:ph idx="2" type="pic"/>
          </p:nvPr>
        </p:nvSpPr>
        <p:spPr>
          <a:xfrm>
            <a:off x="3923928" y="897564"/>
            <a:ext cx="4779600" cy="35643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40531" y="897564"/>
            <a:ext cx="33753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243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2_Заголовок и объек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400"/>
              <a:buFont typeface="PT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596336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T Sans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40531" y="4788678"/>
            <a:ext cx="337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Autofit/>
          </a:bodyPr>
          <a:lstStyle>
            <a:lvl1pPr indent="-228600" lvl="0" marL="457200" marR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1100"/>
              <a:buFont typeface="Arial"/>
              <a:buNone/>
              <a:defRPr sz="1100">
                <a:solidFill>
                  <a:srgbClr val="05336E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 rot="-5400000">
            <a:off x="8085225" y="4207662"/>
            <a:ext cx="552965" cy="5329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chemeClr val="lt1"/>
                </a:solidFill>
                <a:latin typeface="PT Sans"/>
              </a:rPr>
              <a:t>НЕ ИСПОЛЬЗОВАТЬ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29">
          <p15:clr>
            <a:srgbClr val="FBAE40"/>
          </p15:clr>
        </p15:guide>
        <p15:guide id="2" pos="2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5"/>
          <p:cNvSpPr txBox="1"/>
          <p:nvPr>
            <p:ph idx="2" type="body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5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7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0531" y="255824"/>
            <a:ext cx="8262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000" lIns="24300" spcFirstLastPara="1" rIns="0" wrap="square" tIns="270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336E"/>
              </a:buClr>
              <a:buSzPts val="2400"/>
              <a:buFont typeface="PT Sans"/>
              <a:buNone/>
              <a:defRPr b="1" i="0" sz="24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40531" y="897564"/>
            <a:ext cx="8262900" cy="3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000" lIns="5400" spcFirstLastPara="1" rIns="0" wrap="square" tIns="270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619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336E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05336E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65965" y="4804358"/>
            <a:ext cx="3375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55825"/>
            <a:ext cx="393602" cy="39360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743">
          <p15:clr>
            <a:srgbClr val="F26B43"/>
          </p15:clr>
        </p15:guide>
        <p15:guide id="2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lg@moevm.inf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ru.wikipedia.org/wiki/%D0%90%D0%92%D0%9B-%D0%B4%D0%B5%D1%80%D0%B5%D0%B2%D0%BE" TargetMode="External"/><Relationship Id="rId4" Type="http://schemas.openxmlformats.org/officeDocument/2006/relationships/hyperlink" Target="https://habr.com/ru/articles/150732/" TargetMode="External"/><Relationship Id="rId5" Type="http://schemas.openxmlformats.org/officeDocument/2006/relationships/hyperlink" Target="https://www.cs.usfca.edu/~galles/visualization/AVLtree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mailto:alg@moevm.info" TargetMode="External"/><Relationship Id="rId4" Type="http://schemas.openxmlformats.org/officeDocument/2006/relationships/hyperlink" Target="mailto:dmitry.ivanov@moevm.info" TargetMode="External"/><Relationship Id="rId5" Type="http://schemas.openxmlformats.org/officeDocument/2006/relationships/hyperlink" Target="mailto:ivan.shalaginov@moevm.inf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ru"/>
              <a:t>АВЛ-деревья</a:t>
            </a:r>
            <a:endParaRPr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65075" y="3097350"/>
            <a:ext cx="8835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Для вопросов по курсу:  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➢"/>
            </a:pPr>
            <a:r>
              <a:rPr lang="ru" sz="2200"/>
              <a:t>Почта дисциплины - </a:t>
            </a:r>
            <a:r>
              <a:rPr lang="ru" sz="2200" u="sng">
                <a:solidFill>
                  <a:schemeClr val="hlink"/>
                </a:solidFill>
                <a:hlinkClick r:id="rId3"/>
              </a:rPr>
              <a:t>alg@moevm.info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/>
              <a:t>Префикс в теме письма [ALG_43XX]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84675" y="94400"/>
            <a:ext cx="85206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ru" sz="1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СПбГЭТУ “ЛЭТИ”, ФКТИ, МОЭВМ</a:t>
            </a:r>
            <a:endParaRPr b="0" i="1" sz="18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1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АВЛ-деревья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АВЛ-дерево - это </a:t>
            </a:r>
            <a:r>
              <a:rPr b="1" i="1" lang="ru" sz="1900">
                <a:solidFill>
                  <a:srgbClr val="000000"/>
                </a:solidFill>
              </a:rPr>
              <a:t>бинарное дерево поиска </a:t>
            </a:r>
            <a:r>
              <a:rPr lang="ru" sz="1900">
                <a:solidFill>
                  <a:srgbClr val="000000"/>
                </a:solidFill>
              </a:rPr>
              <a:t>сбалансированное по высоте так, что разница между высотами левого и правого поддерева каждого узла не более 1.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Т.е.:</a:t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| h1 - h2 | &lt;= 1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9475" y="2178425"/>
            <a:ext cx="4870776" cy="24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АВЛ-деревья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076275"/>
            <a:ext cx="85206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Для возможности добавления нескольких одинаковых элементов в АВЛ-дерево необходимо небольшое изменение условия бинарного дерева поиска для левого поддерева узла: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В левом поддереве узла X могут находится узлы со значением равным значению узла X (т.е. с &lt; меняется на &lt;=).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Например, становится возможно дерево: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4688" y="3113900"/>
            <a:ext cx="1175170" cy="109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26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Балансировка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7733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Перед тем, как переходить к основным операциям, связанным с АВЛ-деревьями, рассмотрим понятие балансировки.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Балансировка АВЛ-дерева заключается в перестроении его структуры для соблюдения условий его построения. (Иногда условие по высоте перестает соблюдаться, тогда и необходима балансировка).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5300" y="2980975"/>
            <a:ext cx="3705700" cy="14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239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Балансировка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75622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Рассмотрим основные операции балансировки: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Малый левый поворот. Используется когда разница высот поддерева A и Y-поддерева равна 2 и h(B) &lt;= h(C) [где h() - высота поддерева].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050" y="2110725"/>
            <a:ext cx="7720784" cy="240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22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Балансировка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40275" y="71052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Рассмотрим основные операции балансировки: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Малый правый поворот. Используется когда разница высот поддерева X и C-поддерева равна 2 и h(B) &lt;= h(A).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950" y="2154550"/>
            <a:ext cx="7188091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26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Балансировка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840550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Рассмотрим основные операции балансировки: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Большой левый поворот. Используется когда разница высот поддерева A и Z-поддерева равна 2 и h(Y) &gt; h(D).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" y="2195050"/>
            <a:ext cx="8167657" cy="2277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279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Балансировка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733375"/>
            <a:ext cx="8520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Рассмотрим основные операции балансировки: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Большой правый поворот. Используется когда разница высот поддерева X и D-поддерева равна 2 и h(Y) &gt; h(A).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300" y="2160275"/>
            <a:ext cx="8520601" cy="2157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Поиск ключа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076275"/>
            <a:ext cx="85206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Аналогично поиску в бинарном дереве поиска: спускаемся вниз по текущему АВЛ-дереву, выбирая направление спуска, как результат сравнения искомого ключа со значением ключа текущего узла (Если совпал ключ с искомым, то поиск завершен, если искомый меньше или равен текущему, то идем в левую ветку, иначе в правую).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Добавление нового ключа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311700" y="107627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Спускаемся вниз по текущему АВЛ-дереву, выбирая направление спуска как результат сравнения добавляемого ключа со значением ключа текущего узла.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После нахождения пустого места для вставки, выполняем вставку нового ключа.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Обратно возвращаемся тем же путем к корню дерева (снизу вверх) и выполняем операции балансировки в случае, если нарушено условие по разности высот для текущего узла подъема.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66" name="Google Shape;16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Удаление ключа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311700" y="1076275"/>
            <a:ext cx="85206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Выполняем поиск узла с ключом, который хотим удалить.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Если он есть, то: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Если у найденного узла нет правого поддерева, то просто удаляем его и ставим вместо него левое поддерево. Обратно возвращаемся тем же путем к корню дерева и выполняем операции балансировки.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●"/>
            </a:pPr>
            <a:r>
              <a:rPr lang="ru" sz="1900">
                <a:solidFill>
                  <a:srgbClr val="000000"/>
                </a:solidFill>
              </a:rPr>
              <a:t>Иначе находим в правом поддереве узел с минимальным ключом и убираем его, удаляемый ключ заменяем на убранный минимальный ключ. Возвращаемся к корню, выполняя балансировку.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Зачем нужны АВЛ-деревья?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311700" y="1076275"/>
            <a:ext cx="8520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АВЛ-деревья (как и другие деревья поиска с балансировкой) используются так как все операции над деревьями поиска зависят от </a:t>
            </a:r>
            <a:r>
              <a:rPr b="1" lang="ru" sz="1900">
                <a:solidFill>
                  <a:srgbClr val="000000"/>
                </a:solidFill>
              </a:rPr>
              <a:t>высоты дерева</a:t>
            </a:r>
            <a:r>
              <a:rPr lang="ru" sz="1900">
                <a:solidFill>
                  <a:srgbClr val="000000"/>
                </a:solidFill>
              </a:rPr>
              <a:t>. 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Выставляя дополнительные ограничения на высоту мы тем самым сокращаем время каждой операции поиска, жертвуя дополнительными затратами на балансировку при вставке и удалении.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" sz="1900">
                <a:solidFill>
                  <a:srgbClr val="000000"/>
                </a:solidFill>
              </a:rPr>
              <a:t> 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80" name="Google Shape;18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Источники и полезные ссылки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Общая информация: </a:t>
            </a:r>
            <a:r>
              <a:rPr lang="ru" sz="1900" u="sng">
                <a:solidFill>
                  <a:schemeClr val="hlink"/>
                </a:solidFill>
                <a:hlinkClick r:id="rId3"/>
              </a:rPr>
              <a:t>https://ru.wikipedia.org/wiki/АВЛ-дерево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Полезная статья с хорошим объяснением АВЛ-деревьев: </a:t>
            </a:r>
            <a:r>
              <a:rPr lang="ru" sz="1900" u="sng">
                <a:solidFill>
                  <a:schemeClr val="hlink"/>
                </a:solidFill>
                <a:hlinkClick r:id="rId4"/>
              </a:rPr>
              <a:t>https://habr.com/ru/articles/150732/</a:t>
            </a:r>
            <a:endParaRPr sz="1900">
              <a:solidFill>
                <a:srgbClr val="000000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Char char="➢"/>
            </a:pPr>
            <a:r>
              <a:rPr lang="ru" sz="1900">
                <a:solidFill>
                  <a:srgbClr val="000000"/>
                </a:solidFill>
              </a:rPr>
              <a:t>Визуализатор операций над АВЛ-деревьями: </a:t>
            </a:r>
            <a:r>
              <a:rPr lang="ru" sz="1900" u="sng">
                <a:solidFill>
                  <a:schemeClr val="hlink"/>
                </a:solidFill>
                <a:hlinkClick r:id="rId5"/>
              </a:rPr>
              <a:t>https://www.cs.usfca.edu/~galles/visualization/AVLtree.html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7" name="Google Shape;18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/>
              <a:t>Вопросы по курсу можно задавать:</a:t>
            </a:r>
            <a:endParaRPr/>
          </a:p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‹#›</a:t>
            </a:fld>
            <a:endParaRPr sz="11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94" name="Google Shape;194;p29"/>
          <p:cNvSpPr txBox="1"/>
          <p:nvPr>
            <p:ph type="title"/>
          </p:nvPr>
        </p:nvSpPr>
        <p:spPr>
          <a:xfrm>
            <a:off x="70775" y="3060025"/>
            <a:ext cx="8925000" cy="115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Почта дисциплины -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alg@moevm.info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Иванов Дмитрий Владимирович - </a:t>
            </a:r>
            <a:r>
              <a:rPr lang="ru" sz="2400" u="sng">
                <a:solidFill>
                  <a:schemeClr val="hlink"/>
                </a:solidFill>
                <a:hlinkClick r:id="rId4"/>
              </a:rPr>
              <a:t>dmitry.ivanov@moevm.info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" sz="2400"/>
              <a:t>Шалагинов Иван Владимирович - </a:t>
            </a:r>
            <a:r>
              <a:rPr lang="ru" sz="2400" u="sng">
                <a:solidFill>
                  <a:schemeClr val="hlink"/>
                </a:solidFill>
                <a:hlinkClick r:id="rId5"/>
              </a:rPr>
              <a:t>ivan.shalaginov@moevm.info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Лэти тема">
  <a:themeElements>
    <a:clrScheme name="corp_colors">
      <a:dk1>
        <a:srgbClr val="05336E"/>
      </a:dk1>
      <a:lt1>
        <a:srgbClr val="FFFFFF"/>
      </a:lt1>
      <a:dk2>
        <a:srgbClr val="05336E"/>
      </a:dk2>
      <a:lt2>
        <a:srgbClr val="FFFF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67A7F8"/>
      </a:hlink>
      <a:folHlink>
        <a:srgbClr val="67A7F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