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  <p:embeddedFont>
      <p:font typeface="PT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PTSans-bold.fntdata"/><Relationship Id="rId27" Type="http://schemas.openxmlformats.org/officeDocument/2006/relationships/font" Target="fonts/PT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T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T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87a56cd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8987a56cd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987a56c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8987a56c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9858a8df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89858a8df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87a56cd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8987a56cd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987a56cd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8987a56c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987a56cd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8987a56cd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987a56cd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8987a56cd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987a56cd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8987a56cd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9858a8df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89858a8df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B-дерево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B-дерево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B-дерево </a:t>
            </a:r>
            <a:r>
              <a:rPr lang="ru" sz="1900">
                <a:solidFill>
                  <a:srgbClr val="000000"/>
                </a:solidFill>
              </a:rPr>
              <a:t>- </a:t>
            </a:r>
            <a:r>
              <a:rPr lang="ru" sz="1900">
                <a:solidFill>
                  <a:srgbClr val="000000"/>
                </a:solidFill>
              </a:rPr>
              <a:t>структура данных, представляющая из себя сильноветвящееся сбалансированное дерево поиска.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Высота при n узлах порядка logn.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Количество детей узлов может быть от нескольких до тысяч(степень ветвления)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Идеально сбалансированное дерево - все листья на одном уровне.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Свойства B-дерева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017150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Ключи в каждом узле обычно упорядочены для быстрого доступа к ним.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Корень содержит от 1 до 2t-1 ключей.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Любой другой узел содержит от t-1 до 2t-1 ключей.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Любой узел, содержащий n ключей(K</a:t>
            </a:r>
            <a:r>
              <a:rPr baseline="-25000" lang="ru" sz="1900">
                <a:solidFill>
                  <a:srgbClr val="000000"/>
                </a:solidFill>
              </a:rPr>
              <a:t>1</a:t>
            </a:r>
            <a:r>
              <a:rPr lang="ru" sz="1900">
                <a:solidFill>
                  <a:srgbClr val="000000"/>
                </a:solidFill>
              </a:rPr>
              <a:t>, …, K</a:t>
            </a:r>
            <a:r>
              <a:rPr baseline="-25000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), содержит n+1 потомков.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Первый потомок и все его потомки содержат ключи ∈ (−∞,K</a:t>
            </a:r>
            <a:r>
              <a:rPr baseline="-25000" lang="ru" sz="1900">
                <a:solidFill>
                  <a:srgbClr val="000000"/>
                </a:solidFill>
              </a:rPr>
              <a:t>1</a:t>
            </a:r>
            <a:r>
              <a:rPr lang="ru" sz="1900">
                <a:solidFill>
                  <a:srgbClr val="000000"/>
                </a:solidFill>
              </a:rPr>
              <a:t>)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Последний </a:t>
            </a:r>
            <a:r>
              <a:rPr lang="ru" sz="1900">
                <a:solidFill>
                  <a:srgbClr val="000000"/>
                </a:solidFill>
              </a:rPr>
              <a:t>и все его потомки содержат ключи ∈ (K</a:t>
            </a:r>
            <a:r>
              <a:rPr baseline="-25000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,∞)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Все остальные потомки и их потомки содержат ключи ∈ (K</a:t>
            </a:r>
            <a:r>
              <a:rPr baseline="-25000" lang="ru" sz="1900">
                <a:solidFill>
                  <a:srgbClr val="000000"/>
                </a:solidFill>
              </a:rPr>
              <a:t>i-1</a:t>
            </a:r>
            <a:r>
              <a:rPr lang="ru" sz="1900">
                <a:solidFill>
                  <a:srgbClr val="000000"/>
                </a:solidFill>
              </a:rPr>
              <a:t>,K</a:t>
            </a:r>
            <a:r>
              <a:rPr baseline="-25000" lang="ru" sz="1900">
                <a:solidFill>
                  <a:srgbClr val="000000"/>
                </a:solidFill>
              </a:rPr>
              <a:t>i</a:t>
            </a:r>
            <a:r>
              <a:rPr lang="ru" sz="1900">
                <a:solidFill>
                  <a:srgbClr val="000000"/>
                </a:solidFill>
              </a:rPr>
              <a:t>)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60050" y="4123675"/>
            <a:ext cx="797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222222"/>
                </a:solidFill>
                <a:latin typeface="PT Sans"/>
                <a:ea typeface="PT Sans"/>
                <a:cs typeface="PT Sans"/>
                <a:sym typeface="PT Sans"/>
              </a:rPr>
              <a:t>t - степень ветвления дерева ≥ 2, обычно от 50 до 2000</a:t>
            </a:r>
            <a:endParaRPr sz="1800">
              <a:solidFill>
                <a:srgbClr val="222222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463" y="1017725"/>
            <a:ext cx="7843078" cy="3340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Поиск ключа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Поиск ключа начинается с корня: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Ключ содержится в текущем узле.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Все хорошо, ключ найден.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Ключа нет в текущем узле: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Определяем интервал, в котором должен содержаться ключ.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Переходим к потомку, который </a:t>
            </a:r>
            <a:r>
              <a:rPr lang="ru" sz="1900">
                <a:solidFill>
                  <a:srgbClr val="000000"/>
                </a:solidFill>
              </a:rPr>
              <a:t>соответствует</a:t>
            </a:r>
            <a:r>
              <a:rPr lang="ru" sz="1900">
                <a:solidFill>
                  <a:srgbClr val="000000"/>
                </a:solidFill>
              </a:rPr>
              <a:t> данному интервалу.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Повторяем все шаги.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Добавление ключа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01772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Ищем лист, в который можно добавить ключ, совершая проход от корня к листьям.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найденный узел незаполнен, добавляем в него ключ.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Иначе разбиваем узел на два узла, в первый добавляем первые t−1 ключей, во второй — последние t−1 ключей. Добавляем ключ в один из этих узлов.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Оставшийся средний элемент добавляется в родительский узел, где становится разделительной точкой для двух новых поддеревьев.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27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Добавление ключа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894500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и родительский узел заполнен — повторяем пока не встретим незаполненный узел или не дойдем до корня. В последнем случае корень разбивается на два узла и высота дерева увеличивается.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345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918650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Операция удаления ключа сложнее операции вставки. Для менее запутанного объяснения разобьем данную операцию на два случая: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Удаление из листа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Удаление из внутреннего узла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Если количество ключей станет меньше t-1, то необходимо будет сделать дополнительные действия: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Перемещение ключа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Слияние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из листа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8406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Если ключей больше t−1, то просто удаляем ключ. Иначе: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существует соседний лист с тем же родителем, с больше чем t−1 ключами, выберем ключ-разделитель(k</a:t>
            </a:r>
            <a:r>
              <a:rPr baseline="-25000" lang="ru" sz="1900">
                <a:solidFill>
                  <a:srgbClr val="000000"/>
                </a:solidFill>
              </a:rPr>
              <a:t>1</a:t>
            </a:r>
            <a:r>
              <a:rPr lang="ru" sz="1900">
                <a:solidFill>
                  <a:srgbClr val="000000"/>
                </a:solidFill>
              </a:rPr>
              <a:t>) из соседа, разделяющий оставшиеся ключи соседа и ключи исходного узла.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Выберем другой ключ(k</a:t>
            </a:r>
            <a:r>
              <a:rPr baseline="-25000" lang="ru" sz="1900">
                <a:solidFill>
                  <a:srgbClr val="000000"/>
                </a:solidFill>
              </a:rPr>
              <a:t>2</a:t>
            </a:r>
            <a:r>
              <a:rPr lang="ru" sz="1900">
                <a:solidFill>
                  <a:srgbClr val="000000"/>
                </a:solidFill>
              </a:rPr>
              <a:t>) из родительского узла, разделяющий исходный узел и его соседа, который был выбран ранее.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Удалим из исходного узла ключ, который нужно было удалить, спустим в этот узел k</a:t>
            </a:r>
            <a:r>
              <a:rPr baseline="-25000" lang="ru" sz="1900">
                <a:solidFill>
                  <a:srgbClr val="000000"/>
                </a:solidFill>
              </a:rPr>
              <a:t>2</a:t>
            </a:r>
            <a:r>
              <a:rPr lang="ru" sz="1900">
                <a:solidFill>
                  <a:srgbClr val="000000"/>
                </a:solidFill>
              </a:rPr>
              <a:t>, а вместо k</a:t>
            </a:r>
            <a:r>
              <a:rPr baseline="-25000" lang="ru" sz="1900">
                <a:solidFill>
                  <a:srgbClr val="000000"/>
                </a:solidFill>
              </a:rPr>
              <a:t>2</a:t>
            </a:r>
            <a:r>
              <a:rPr lang="ru" sz="1900">
                <a:solidFill>
                  <a:srgbClr val="000000"/>
                </a:solidFill>
              </a:rPr>
              <a:t> в родительском узле поставим k</a:t>
            </a:r>
            <a:r>
              <a:rPr baseline="-25000" lang="ru" sz="1900">
                <a:solidFill>
                  <a:srgbClr val="000000"/>
                </a:solidFill>
              </a:rPr>
              <a:t>1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из листа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8406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все соседи содержат по t−1 ключу, то объединяем узел с каким-либо из соседей, удаляем ключ, и ключ из родительского узла, который был разделителем соседей, перемещаем в новый узел.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604" y="2195175"/>
            <a:ext cx="4256783" cy="21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из внутреннего узла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311700" y="1137850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Имеется внутренний узел и ключ, который нужно удалить(k). Если дочерний узел, предшествующий ключу k, содержит больше t−1 ключа: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Находим k</a:t>
            </a:r>
            <a:r>
              <a:rPr baseline="-25000" lang="ru" sz="1900">
                <a:solidFill>
                  <a:srgbClr val="000000"/>
                </a:solidFill>
              </a:rPr>
              <a:t>1</a:t>
            </a:r>
            <a:r>
              <a:rPr lang="ru" sz="1900">
                <a:solidFill>
                  <a:srgbClr val="000000"/>
                </a:solidFill>
              </a:rPr>
              <a:t> – предшественника k в поддереве этого узла.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Удаляем его. Заменяем k в исходном узле на k</a:t>
            </a:r>
            <a:r>
              <a:rPr baseline="-25000" lang="ru" sz="1900">
                <a:solidFill>
                  <a:srgbClr val="000000"/>
                </a:solidFill>
              </a:rPr>
              <a:t>1</a:t>
            </a:r>
            <a:r>
              <a:rPr lang="ru" sz="1900">
                <a:solidFill>
                  <a:srgbClr val="000000"/>
                </a:solidFill>
              </a:rPr>
              <a:t>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Проделываем аналогичную работу, если дочерний узел, следующий за ключом k, имеет больше t−1 ключа. 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из внутреннего узла</a:t>
            </a:r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1455750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Если оба (следующий и предшествующий дочерние узлы) имеют по t−1 ключу: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Объединяем этих детей, переносим в них k.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Удаляем k из нового узла.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сливаются 2 последних потомка корня – то они становятся корнем, а предыдущий корень освобождается.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5" name="Google Shape;17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из листа</a:t>
            </a:r>
            <a:endParaRPr/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685" y="773475"/>
            <a:ext cx="4824640" cy="359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Перемещение ключа и слияние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00" y="1745188"/>
            <a:ext cx="3874511" cy="165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745188"/>
            <a:ext cx="3874500" cy="165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Практическое применение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455750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B-деревья разработаны для использования на дисках (в файловых системах) или иных энергонезависимых носителях информации с прямым доступом, а также в базах данных. B-деревья похожи на красно-чёрные деревья (например, в том, что все В-деревья с n узлами имеют высоту O(logn)), но они лучше минимизируют количество операций чтения-записи с диском.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Вариации B-дерева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65050" y="101772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Существуют 3 основновные дополнительные вариации B-дерева: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B</a:t>
            </a:r>
            <a:r>
              <a:rPr baseline="30000" lang="ru" sz="1900">
                <a:solidFill>
                  <a:srgbClr val="000000"/>
                </a:solidFill>
              </a:rPr>
              <a:t>+</a:t>
            </a:r>
            <a:r>
              <a:rPr lang="ru" sz="1900">
                <a:solidFill>
                  <a:srgbClr val="000000"/>
                </a:solidFill>
              </a:rPr>
              <a:t>-дерево - к</a:t>
            </a:r>
            <a:r>
              <a:rPr lang="ru" sz="1900">
                <a:solidFill>
                  <a:srgbClr val="000000"/>
                </a:solidFill>
              </a:rPr>
              <a:t>лючи и данные хранятся только в листьях. Внутренние узлы содержат дублирующие ключи для навигации.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B*-дерево - узлы заполнены не менее чем на ⅔, вместо ½. У</a:t>
            </a:r>
            <a:r>
              <a:rPr lang="ru" sz="1900">
                <a:solidFill>
                  <a:srgbClr val="000000"/>
                </a:solidFill>
              </a:rPr>
              <a:t>зел не разбивается на 2 узла, если полностью заполнен. Вместо этого ищется место в уже существующем соседнем узле, и только после того, как оба узла будут заполнены, они разделяются на три узла.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2-3 дерево - узлы содержат 2-3 потомка.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11" name="Google Shape;211;p32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